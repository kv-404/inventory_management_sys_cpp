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aff573c996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aff573c996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ce334175ef_2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g3ce334175ef_2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g3ce334175ef_2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ce334175ef_2_2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g3ce334175ef_2_2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g3ce334175ef_2_2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ce334175ef_4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g3ce334175ef_4_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g3ce334175ef_4_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ce334175ef_4_4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g3ce334175ef_4_4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g3ce334175ef_4_4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aff573c996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aff573c996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81B50"/>
        </a:solidFill>
      </p:bgPr>
    </p:bg>
    <p:spTree>
      <p:nvGrpSpPr>
        <p:cNvPr id="55" name="Shape 55"/>
        <p:cNvGrpSpPr/>
        <p:nvPr/>
      </p:nvGrpSpPr>
      <p:grpSpPr>
        <a:xfrm>
          <a:off x="0" y="0"/>
          <a:ext cx="0" cy="0"/>
          <a:chOff x="0" y="0"/>
          <a:chExt cx="0" cy="0"/>
        </a:xfrm>
      </p:grpSpPr>
      <p:sp>
        <p:nvSpPr>
          <p:cNvPr id="56" name="Google Shape;56;p15"/>
          <p:cNvSpPr txBox="1"/>
          <p:nvPr>
            <p:ph idx="1" type="subTitle"/>
          </p:nvPr>
        </p:nvSpPr>
        <p:spPr>
          <a:xfrm>
            <a:off x="311700" y="2834125"/>
            <a:ext cx="8520600" cy="1491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sz="2400">
                <a:solidFill>
                  <a:schemeClr val="lt1"/>
                </a:solidFill>
              </a:rPr>
              <a:t>Inventory Management Sys</a:t>
            </a:r>
            <a:endParaRPr sz="2400">
              <a:solidFill>
                <a:schemeClr val="lt1"/>
              </a:solidFill>
            </a:endParaRPr>
          </a:p>
          <a:p>
            <a:pPr indent="0" lvl="0" marL="0" rtl="0" algn="ctr">
              <a:spcBef>
                <a:spcPts val="0"/>
              </a:spcBef>
              <a:spcAft>
                <a:spcPts val="0"/>
              </a:spcAft>
              <a:buNone/>
            </a:pPr>
            <a:r>
              <a:rPr b="1" lang="en-GB" sz="1232">
                <a:solidFill>
                  <a:schemeClr val="lt1"/>
                </a:solidFill>
              </a:rPr>
              <a:t>B</a:t>
            </a:r>
            <a:r>
              <a:rPr b="1" lang="en-GB" sz="1232">
                <a:solidFill>
                  <a:schemeClr val="lt1"/>
                </a:solidFill>
              </a:rPr>
              <a:t>y Karamveer Singh Qaumi</a:t>
            </a:r>
            <a:endParaRPr b="1" sz="1232">
              <a:solidFill>
                <a:schemeClr val="lt1"/>
              </a:solidFill>
            </a:endParaRPr>
          </a:p>
          <a:p>
            <a:pPr indent="0" lvl="0" marL="0" rtl="0" algn="ctr">
              <a:spcBef>
                <a:spcPts val="0"/>
              </a:spcBef>
              <a:spcAft>
                <a:spcPts val="0"/>
              </a:spcAft>
              <a:buNone/>
            </a:pPr>
            <a:r>
              <a:rPr b="1" lang="en-GB" sz="1232">
                <a:solidFill>
                  <a:schemeClr val="lt1"/>
                </a:solidFill>
              </a:rPr>
              <a:t>Larry page</a:t>
            </a:r>
            <a:endParaRPr b="1" sz="1232">
              <a:solidFill>
                <a:schemeClr val="lt1"/>
              </a:solidFill>
            </a:endParaRPr>
          </a:p>
        </p:txBody>
      </p:sp>
      <p:pic>
        <p:nvPicPr>
          <p:cNvPr id="57" name="Google Shape;57;p15" title="download.png"/>
          <p:cNvPicPr preferRelativeResize="0"/>
          <p:nvPr/>
        </p:nvPicPr>
        <p:blipFill>
          <a:blip r:embed="rId3">
            <a:alphaModFix/>
          </a:blip>
          <a:stretch>
            <a:fillRect/>
          </a:stretch>
        </p:blipFill>
        <p:spPr>
          <a:xfrm>
            <a:off x="2662238" y="942350"/>
            <a:ext cx="3819525" cy="12001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solidFill>
                  <a:srgbClr val="A81B50"/>
                </a:solidFill>
              </a:rPr>
              <a:t>Index</a:t>
            </a:r>
            <a:endParaRPr b="1">
              <a:solidFill>
                <a:srgbClr val="A81B50"/>
              </a:solidFill>
            </a:endParaRPr>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GB"/>
              <a:t>Problem Statement</a:t>
            </a:r>
            <a:endParaRPr/>
          </a:p>
          <a:p>
            <a:pPr indent="-342900" lvl="0" marL="457200" rtl="0" algn="l">
              <a:spcBef>
                <a:spcPts val="0"/>
              </a:spcBef>
              <a:spcAft>
                <a:spcPts val="0"/>
              </a:spcAft>
              <a:buSzPts val="1800"/>
              <a:buAutoNum type="arabicPeriod"/>
            </a:pPr>
            <a:r>
              <a:rPr lang="en-GB"/>
              <a:t>Your solution</a:t>
            </a:r>
            <a:endParaRPr/>
          </a:p>
          <a:p>
            <a:pPr indent="-342900" lvl="0" marL="457200" rtl="0" algn="l">
              <a:spcBef>
                <a:spcPts val="0"/>
              </a:spcBef>
              <a:spcAft>
                <a:spcPts val="0"/>
              </a:spcAft>
              <a:buSzPts val="1800"/>
              <a:buAutoNum type="arabicPeriod"/>
            </a:pPr>
            <a:r>
              <a:rPr lang="en-GB"/>
              <a:t>Working (Method/</a:t>
            </a:r>
            <a:r>
              <a:rPr lang="en-GB"/>
              <a:t>Mind map</a:t>
            </a:r>
            <a:r>
              <a:rPr lang="en-GB"/>
              <a:t>)</a:t>
            </a:r>
            <a:endParaRPr/>
          </a:p>
          <a:p>
            <a:pPr indent="-342900" lvl="0" marL="457200" rtl="0" algn="l">
              <a:spcBef>
                <a:spcPts val="0"/>
              </a:spcBef>
              <a:spcAft>
                <a:spcPts val="0"/>
              </a:spcAft>
              <a:buSzPts val="1800"/>
              <a:buAutoNum type="arabicPeriod"/>
            </a:pPr>
            <a:r>
              <a:rPr lang="en-GB"/>
              <a:t>Conclusion.</a:t>
            </a:r>
            <a:endParaRPr/>
          </a:p>
          <a:p>
            <a:pPr indent="0" lvl="0" marL="0" rtl="0" algn="l">
              <a:spcBef>
                <a:spcPts val="1200"/>
              </a:spcBef>
              <a:spcAft>
                <a:spcPts val="1200"/>
              </a:spcAft>
              <a:buNone/>
            </a:pPr>
            <a:r>
              <a:rPr lang="en-GB" sz="1000"/>
              <a:t>Note: Slides (excluding Thank-you and Introduction slide) should not be more than 4.</a:t>
            </a:r>
            <a:endParaRPr sz="1000"/>
          </a:p>
        </p:txBody>
      </p:sp>
      <p:pic>
        <p:nvPicPr>
          <p:cNvPr id="64" name="Google Shape;64;p16" title="images.jpeg"/>
          <p:cNvPicPr preferRelativeResize="0"/>
          <p:nvPr/>
        </p:nvPicPr>
        <p:blipFill>
          <a:blip r:embed="rId3">
            <a:alphaModFix/>
          </a:blip>
          <a:stretch>
            <a:fillRect/>
          </a:stretch>
        </p:blipFill>
        <p:spPr>
          <a:xfrm>
            <a:off x="7914199" y="3992274"/>
            <a:ext cx="918100" cy="9181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E4A"/>
        </a:solidFill>
      </p:bgPr>
    </p:bg>
    <p:spTree>
      <p:nvGrpSpPr>
        <p:cNvPr id="69" name="Shape 69"/>
        <p:cNvGrpSpPr/>
        <p:nvPr/>
      </p:nvGrpSpPr>
      <p:grpSpPr>
        <a:xfrm>
          <a:off x="0" y="0"/>
          <a:ext cx="0" cy="0"/>
          <a:chOff x="0" y="0"/>
          <a:chExt cx="0" cy="0"/>
        </a:xfrm>
      </p:grpSpPr>
      <p:sp>
        <p:nvSpPr>
          <p:cNvPr id="70" name="Google Shape;70;p17"/>
          <p:cNvSpPr/>
          <p:nvPr/>
        </p:nvSpPr>
        <p:spPr>
          <a:xfrm>
            <a:off x="0" y="0"/>
            <a:ext cx="164592" cy="5143500"/>
          </a:xfrm>
          <a:prstGeom prst="rect">
            <a:avLst/>
          </a:prstGeom>
          <a:solidFill>
            <a:srgbClr val="2E8BC0"/>
          </a:solidFill>
          <a:ln cap="flat" cmpd="sng" w="12700">
            <a:solidFill>
              <a:srgbClr val="2E8B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7"/>
          <p:cNvSpPr/>
          <p:nvPr/>
        </p:nvSpPr>
        <p:spPr>
          <a:xfrm>
            <a:off x="365760" y="274320"/>
            <a:ext cx="8229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800"/>
              <a:buFont typeface="Calibri"/>
              <a:buNone/>
            </a:pPr>
            <a:r>
              <a:rPr b="1" i="0" lang="en-GB" sz="3800" u="none" cap="none" strike="noStrike">
                <a:solidFill>
                  <a:srgbClr val="FFFFFF"/>
                </a:solidFill>
                <a:latin typeface="Calibri"/>
                <a:ea typeface="Calibri"/>
                <a:cs typeface="Calibri"/>
                <a:sym typeface="Calibri"/>
              </a:rPr>
              <a:t>Problem Statement</a:t>
            </a:r>
            <a:endParaRPr b="0" i="0" sz="3800" u="none" cap="none" strike="noStrike">
              <a:solidFill>
                <a:schemeClr val="dk1"/>
              </a:solidFill>
              <a:latin typeface="Calibri"/>
              <a:ea typeface="Calibri"/>
              <a:cs typeface="Calibri"/>
              <a:sym typeface="Calibri"/>
            </a:endParaRPr>
          </a:p>
        </p:txBody>
      </p:sp>
      <p:sp>
        <p:nvSpPr>
          <p:cNvPr id="72" name="Google Shape;72;p17"/>
          <p:cNvSpPr/>
          <p:nvPr/>
        </p:nvSpPr>
        <p:spPr>
          <a:xfrm>
            <a:off x="365760" y="1005840"/>
            <a:ext cx="2926080" cy="320040"/>
          </a:xfrm>
          <a:prstGeom prst="rect">
            <a:avLst/>
          </a:prstGeom>
          <a:solidFill>
            <a:srgbClr val="2E8BC0"/>
          </a:solidFill>
          <a:ln cap="flat" cmpd="sng" w="12700">
            <a:solidFill>
              <a:srgbClr val="2E8B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7"/>
          <p:cNvSpPr/>
          <p:nvPr/>
        </p:nvSpPr>
        <p:spPr>
          <a:xfrm>
            <a:off x="365760" y="1005840"/>
            <a:ext cx="29260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0" i="0" lang="en-GB" sz="1100" u="none" cap="none" strike="noStrike">
                <a:solidFill>
                  <a:srgbClr val="FFFFFF"/>
                </a:solidFill>
                <a:latin typeface="Calibri"/>
                <a:ea typeface="Calibri"/>
                <a:cs typeface="Calibri"/>
                <a:sym typeface="Calibri"/>
              </a:rPr>
              <a:t>Inventory Management System — C++</a:t>
            </a:r>
            <a:endParaRPr b="0" i="0" sz="1100" u="none" cap="none" strike="noStrike">
              <a:solidFill>
                <a:schemeClr val="dk1"/>
              </a:solidFill>
              <a:latin typeface="Calibri"/>
              <a:ea typeface="Calibri"/>
              <a:cs typeface="Calibri"/>
              <a:sym typeface="Calibri"/>
            </a:endParaRPr>
          </a:p>
        </p:txBody>
      </p:sp>
      <p:sp>
        <p:nvSpPr>
          <p:cNvPr id="74" name="Google Shape;74;p17"/>
          <p:cNvSpPr/>
          <p:nvPr/>
        </p:nvSpPr>
        <p:spPr>
          <a:xfrm>
            <a:off x="0" y="4828032"/>
            <a:ext cx="9144000" cy="315468"/>
          </a:xfrm>
          <a:prstGeom prst="rect">
            <a:avLst/>
          </a:prstGeom>
          <a:solidFill>
            <a:srgbClr val="2E8BC0"/>
          </a:solidFill>
          <a:ln cap="flat" cmpd="sng" w="12700">
            <a:solidFill>
              <a:srgbClr val="2E8B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7"/>
          <p:cNvSpPr/>
          <p:nvPr/>
        </p:nvSpPr>
        <p:spPr>
          <a:xfrm>
            <a:off x="8046720" y="4828032"/>
            <a:ext cx="914400" cy="3154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0" i="0" lang="en-GB" sz="1000" u="none" cap="none" strike="noStrike">
                <a:solidFill>
                  <a:srgbClr val="FFFFFF"/>
                </a:solidFill>
                <a:latin typeface="Calibri"/>
                <a:ea typeface="Calibri"/>
                <a:cs typeface="Calibri"/>
                <a:sym typeface="Calibri"/>
              </a:rPr>
              <a:t>1 / 4</a:t>
            </a:r>
            <a:endParaRPr b="0" i="0" sz="1000" u="none" cap="none" strike="noStrike">
              <a:solidFill>
                <a:schemeClr val="dk1"/>
              </a:solidFill>
              <a:latin typeface="Calibri"/>
              <a:ea typeface="Calibri"/>
              <a:cs typeface="Calibri"/>
              <a:sym typeface="Calibri"/>
            </a:endParaRPr>
          </a:p>
        </p:txBody>
      </p:sp>
      <p:sp>
        <p:nvSpPr>
          <p:cNvPr id="76" name="Google Shape;76;p17"/>
          <p:cNvSpPr txBox="1"/>
          <p:nvPr/>
        </p:nvSpPr>
        <p:spPr>
          <a:xfrm>
            <a:off x="457200" y="1750625"/>
            <a:ext cx="8229600" cy="307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500">
                <a:solidFill>
                  <a:schemeClr val="lt1"/>
                </a:solidFill>
              </a:rPr>
              <a:t>Case Study 11: Inventory Management System</a:t>
            </a:r>
            <a:r>
              <a:rPr lang="en-GB" sz="1500">
                <a:solidFill>
                  <a:schemeClr val="lt1"/>
                </a:solidFill>
              </a:rPr>
              <a:t> focuses on developing a simple system that helps track and manage product stock within a business environment. The system allows users to add new products, update stock quantities when items are added or removed, and display the current inventory details. By implementing these features, the case study demonstrates how basic software can be used to organize and maintain product records efficiently. The primary learning outcome of this case study is understanding </a:t>
            </a:r>
            <a:r>
              <a:rPr b="1" lang="en-GB" sz="1500">
                <a:solidFill>
                  <a:schemeClr val="lt1"/>
                </a:solidFill>
              </a:rPr>
              <a:t>business application design</a:t>
            </a:r>
            <a:r>
              <a:rPr lang="en-GB" sz="1500">
                <a:solidFill>
                  <a:schemeClr val="lt1"/>
                </a:solidFill>
              </a:rPr>
              <a:t>, where programming concepts are applied to create practical solutions for managing real-world business operations such as inventory control.</a:t>
            </a:r>
            <a:endParaRPr sz="180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 name="Shape 81"/>
        <p:cNvGrpSpPr/>
        <p:nvPr/>
      </p:nvGrpSpPr>
      <p:grpSpPr>
        <a:xfrm>
          <a:off x="0" y="0"/>
          <a:ext cx="0" cy="0"/>
          <a:chOff x="0" y="0"/>
          <a:chExt cx="0" cy="0"/>
        </a:xfrm>
      </p:grpSpPr>
      <p:sp>
        <p:nvSpPr>
          <p:cNvPr id="82" name="Google Shape;82;p18"/>
          <p:cNvSpPr/>
          <p:nvPr/>
        </p:nvSpPr>
        <p:spPr>
          <a:xfrm>
            <a:off x="0" y="0"/>
            <a:ext cx="9144000" cy="1005840"/>
          </a:xfrm>
          <a:prstGeom prst="rect">
            <a:avLst/>
          </a:prstGeom>
          <a:solidFill>
            <a:srgbClr val="1A2E4A"/>
          </a:solidFill>
          <a:ln cap="flat" cmpd="sng" w="12700">
            <a:solidFill>
              <a:srgbClr val="1A2E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8"/>
          <p:cNvSpPr/>
          <p:nvPr/>
        </p:nvSpPr>
        <p:spPr>
          <a:xfrm>
            <a:off x="365760" y="-80250"/>
            <a:ext cx="8229600" cy="100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Calibri"/>
              <a:buNone/>
            </a:pPr>
            <a:r>
              <a:rPr b="1" i="0" lang="en-GB" sz="3600" u="none" cap="none" strike="noStrike">
                <a:solidFill>
                  <a:srgbClr val="FFFFFF"/>
                </a:solidFill>
                <a:latin typeface="Calibri"/>
                <a:ea typeface="Calibri"/>
                <a:cs typeface="Calibri"/>
                <a:sym typeface="Calibri"/>
              </a:rPr>
              <a:t>Solution</a:t>
            </a:r>
            <a:endParaRPr b="0" i="0" sz="3600" u="none" cap="none" strike="noStrike">
              <a:solidFill>
                <a:schemeClr val="dk1"/>
              </a:solidFill>
              <a:latin typeface="Calibri"/>
              <a:ea typeface="Calibri"/>
              <a:cs typeface="Calibri"/>
              <a:sym typeface="Calibri"/>
            </a:endParaRPr>
          </a:p>
        </p:txBody>
      </p:sp>
      <p:sp>
        <p:nvSpPr>
          <p:cNvPr id="84" name="Google Shape;84;p18"/>
          <p:cNvSpPr/>
          <p:nvPr/>
        </p:nvSpPr>
        <p:spPr>
          <a:xfrm>
            <a:off x="365760" y="566928"/>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8BC0"/>
              </a:buClr>
              <a:buSzPts val="1300"/>
              <a:buFont typeface="Calibri"/>
              <a:buNone/>
            </a:pPr>
            <a:r>
              <a:rPr b="0" i="0" lang="en-GB" sz="1300" u="none" cap="none" strike="noStrike">
                <a:solidFill>
                  <a:srgbClr val="2E8BC0"/>
                </a:solidFill>
                <a:latin typeface="Calibri"/>
                <a:ea typeface="Calibri"/>
                <a:cs typeface="Calibri"/>
                <a:sym typeface="Calibri"/>
              </a:rPr>
              <a:t>C++ Console Inventory Management System</a:t>
            </a:r>
            <a:endParaRPr b="0" i="0" sz="1300" u="none" cap="none" strike="noStrike">
              <a:solidFill>
                <a:schemeClr val="dk1"/>
              </a:solidFill>
              <a:latin typeface="Calibri"/>
              <a:ea typeface="Calibri"/>
              <a:cs typeface="Calibri"/>
              <a:sym typeface="Calibri"/>
            </a:endParaRPr>
          </a:p>
        </p:txBody>
      </p:sp>
      <p:sp>
        <p:nvSpPr>
          <p:cNvPr id="85" name="Google Shape;85;p18"/>
          <p:cNvSpPr/>
          <p:nvPr/>
        </p:nvSpPr>
        <p:spPr>
          <a:xfrm>
            <a:off x="274320" y="1188720"/>
            <a:ext cx="2743200" cy="1691640"/>
          </a:xfrm>
          <a:prstGeom prst="rect">
            <a:avLst/>
          </a:prstGeom>
          <a:solidFill>
            <a:srgbClr val="F4F9FF"/>
          </a:solidFill>
          <a:ln cap="flat" cmpd="sng" w="12700">
            <a:solidFill>
              <a:srgbClr val="D5E8F5"/>
            </a:solidFill>
            <a:prstDash val="solid"/>
            <a:round/>
            <a:headEnd len="sm" w="sm" type="none"/>
            <a:tailEnd len="sm" w="sm" type="none"/>
          </a:ln>
          <a:effectLst>
            <a:outerShdw blurRad="635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8"/>
          <p:cNvSpPr/>
          <p:nvPr/>
        </p:nvSpPr>
        <p:spPr>
          <a:xfrm>
            <a:off x="274320" y="1188720"/>
            <a:ext cx="2743200" cy="73152"/>
          </a:xfrm>
          <a:prstGeom prst="rect">
            <a:avLst/>
          </a:prstGeom>
          <a:solidFill>
            <a:srgbClr val="1F5FAD"/>
          </a:solidFill>
          <a:ln cap="flat" cmpd="sng" w="12700">
            <a:solidFill>
              <a:srgbClr val="1F5FA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8"/>
          <p:cNvSpPr/>
          <p:nvPr/>
        </p:nvSpPr>
        <p:spPr>
          <a:xfrm>
            <a:off x="384048" y="1353312"/>
            <a:ext cx="347472" cy="347472"/>
          </a:xfrm>
          <a:prstGeom prst="rect">
            <a:avLst/>
          </a:prstGeom>
          <a:solidFill>
            <a:srgbClr val="1F5FAD"/>
          </a:solidFill>
          <a:ln cap="flat" cmpd="sng" w="12700">
            <a:solidFill>
              <a:srgbClr val="1F5FA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8"/>
          <p:cNvSpPr/>
          <p:nvPr/>
        </p:nvSpPr>
        <p:spPr>
          <a:xfrm>
            <a:off x="384048" y="135331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GB" sz="1000" u="none" cap="none" strike="noStrike">
                <a:solidFill>
                  <a:srgbClr val="FFFFFF"/>
                </a:solidFill>
                <a:latin typeface="Calibri"/>
                <a:ea typeface="Calibri"/>
                <a:cs typeface="Calibri"/>
                <a:sym typeface="Calibri"/>
              </a:rPr>
              <a:t>01</a:t>
            </a:r>
            <a:endParaRPr b="0" i="0" sz="1000" u="none" cap="none" strike="noStrike">
              <a:solidFill>
                <a:schemeClr val="dk1"/>
              </a:solidFill>
              <a:latin typeface="Calibri"/>
              <a:ea typeface="Calibri"/>
              <a:cs typeface="Calibri"/>
              <a:sym typeface="Calibri"/>
            </a:endParaRPr>
          </a:p>
        </p:txBody>
      </p:sp>
      <p:sp>
        <p:nvSpPr>
          <p:cNvPr id="89" name="Google Shape;89;p18"/>
          <p:cNvSpPr/>
          <p:nvPr/>
        </p:nvSpPr>
        <p:spPr>
          <a:xfrm>
            <a:off x="822960" y="1353312"/>
            <a:ext cx="208483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1300"/>
              <a:buFont typeface="Calibri"/>
              <a:buNone/>
            </a:pPr>
            <a:r>
              <a:rPr b="1" i="0" lang="en-GB" sz="1300" u="none" cap="none" strike="noStrike">
                <a:solidFill>
                  <a:srgbClr val="1A2E4A"/>
                </a:solidFill>
                <a:latin typeface="Calibri"/>
                <a:ea typeface="Calibri"/>
                <a:cs typeface="Calibri"/>
                <a:sym typeface="Calibri"/>
              </a:rPr>
              <a:t>Add Product</a:t>
            </a:r>
            <a:endParaRPr b="0" i="0" sz="1300" u="none" cap="none" strike="noStrike">
              <a:solidFill>
                <a:schemeClr val="dk1"/>
              </a:solidFill>
              <a:latin typeface="Calibri"/>
              <a:ea typeface="Calibri"/>
              <a:cs typeface="Calibri"/>
              <a:sym typeface="Calibri"/>
            </a:endParaRPr>
          </a:p>
        </p:txBody>
      </p:sp>
      <p:sp>
        <p:nvSpPr>
          <p:cNvPr id="90" name="Google Shape;90;p18"/>
          <p:cNvSpPr/>
          <p:nvPr/>
        </p:nvSpPr>
        <p:spPr>
          <a:xfrm>
            <a:off x="384048" y="1828800"/>
            <a:ext cx="2523744"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45566"/>
              </a:buClr>
              <a:buSzPts val="1050"/>
              <a:buFont typeface="Calibri"/>
              <a:buNone/>
            </a:pPr>
            <a:r>
              <a:rPr b="0" i="0" lang="en-GB" sz="1050" u="none" cap="none" strike="noStrike">
                <a:solidFill>
                  <a:srgbClr val="445566"/>
                </a:solidFill>
                <a:latin typeface="Calibri"/>
                <a:ea typeface="Calibri"/>
                <a:cs typeface="Calibri"/>
                <a:sym typeface="Calibri"/>
              </a:rPr>
              <a:t>Auto-ID assigned. Validated name, price (INR) &amp; quantity inputs.</a:t>
            </a:r>
            <a:endParaRPr b="0" i="0" sz="1050" u="none" cap="none" strike="noStrike">
              <a:solidFill>
                <a:schemeClr val="dk1"/>
              </a:solidFill>
              <a:latin typeface="Calibri"/>
              <a:ea typeface="Calibri"/>
              <a:cs typeface="Calibri"/>
              <a:sym typeface="Calibri"/>
            </a:endParaRPr>
          </a:p>
        </p:txBody>
      </p:sp>
      <p:sp>
        <p:nvSpPr>
          <p:cNvPr id="91" name="Google Shape;91;p18"/>
          <p:cNvSpPr/>
          <p:nvPr/>
        </p:nvSpPr>
        <p:spPr>
          <a:xfrm>
            <a:off x="3182112" y="1188720"/>
            <a:ext cx="2743200" cy="1691640"/>
          </a:xfrm>
          <a:prstGeom prst="rect">
            <a:avLst/>
          </a:prstGeom>
          <a:solidFill>
            <a:srgbClr val="F4F9FF"/>
          </a:solidFill>
          <a:ln cap="flat" cmpd="sng" w="12700">
            <a:solidFill>
              <a:srgbClr val="D5E8F5"/>
            </a:solidFill>
            <a:prstDash val="solid"/>
            <a:round/>
            <a:headEnd len="sm" w="sm" type="none"/>
            <a:tailEnd len="sm" w="sm" type="none"/>
          </a:ln>
          <a:effectLst>
            <a:outerShdw blurRad="635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8"/>
          <p:cNvSpPr/>
          <p:nvPr/>
        </p:nvSpPr>
        <p:spPr>
          <a:xfrm>
            <a:off x="3182112" y="1188720"/>
            <a:ext cx="2743200" cy="73152"/>
          </a:xfrm>
          <a:prstGeom prst="rect">
            <a:avLst/>
          </a:prstGeom>
          <a:solidFill>
            <a:srgbClr val="2E8BC0"/>
          </a:solidFill>
          <a:ln cap="flat" cmpd="sng" w="12700">
            <a:solidFill>
              <a:srgbClr val="2E8B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8"/>
          <p:cNvSpPr/>
          <p:nvPr/>
        </p:nvSpPr>
        <p:spPr>
          <a:xfrm>
            <a:off x="3291840" y="1353312"/>
            <a:ext cx="347472" cy="347472"/>
          </a:xfrm>
          <a:prstGeom prst="rect">
            <a:avLst/>
          </a:prstGeom>
          <a:solidFill>
            <a:srgbClr val="2E8BC0"/>
          </a:solidFill>
          <a:ln cap="flat" cmpd="sng" w="12700">
            <a:solidFill>
              <a:srgbClr val="2E8B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8"/>
          <p:cNvSpPr/>
          <p:nvPr/>
        </p:nvSpPr>
        <p:spPr>
          <a:xfrm>
            <a:off x="3291840" y="135331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GB" sz="1000" u="none" cap="none" strike="noStrike">
                <a:solidFill>
                  <a:srgbClr val="FFFFFF"/>
                </a:solidFill>
                <a:latin typeface="Calibri"/>
                <a:ea typeface="Calibri"/>
                <a:cs typeface="Calibri"/>
                <a:sym typeface="Calibri"/>
              </a:rPr>
              <a:t>02</a:t>
            </a:r>
            <a:endParaRPr b="0" i="0" sz="1000" u="none" cap="none" strike="noStrike">
              <a:solidFill>
                <a:schemeClr val="dk1"/>
              </a:solidFill>
              <a:latin typeface="Calibri"/>
              <a:ea typeface="Calibri"/>
              <a:cs typeface="Calibri"/>
              <a:sym typeface="Calibri"/>
            </a:endParaRPr>
          </a:p>
        </p:txBody>
      </p:sp>
      <p:sp>
        <p:nvSpPr>
          <p:cNvPr id="95" name="Google Shape;95;p18"/>
          <p:cNvSpPr/>
          <p:nvPr/>
        </p:nvSpPr>
        <p:spPr>
          <a:xfrm>
            <a:off x="3730752" y="1353312"/>
            <a:ext cx="208483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1300"/>
              <a:buFont typeface="Calibri"/>
              <a:buNone/>
            </a:pPr>
            <a:r>
              <a:rPr b="1" i="0" lang="en-GB" sz="1300" u="none" cap="none" strike="noStrike">
                <a:solidFill>
                  <a:srgbClr val="1A2E4A"/>
                </a:solidFill>
                <a:latin typeface="Calibri"/>
                <a:ea typeface="Calibri"/>
                <a:cs typeface="Calibri"/>
                <a:sym typeface="Calibri"/>
              </a:rPr>
              <a:t>Update Stock</a:t>
            </a:r>
            <a:endParaRPr b="0" i="0" sz="1300" u="none" cap="none" strike="noStrike">
              <a:solidFill>
                <a:schemeClr val="dk1"/>
              </a:solidFill>
              <a:latin typeface="Calibri"/>
              <a:ea typeface="Calibri"/>
              <a:cs typeface="Calibri"/>
              <a:sym typeface="Calibri"/>
            </a:endParaRPr>
          </a:p>
        </p:txBody>
      </p:sp>
      <p:sp>
        <p:nvSpPr>
          <p:cNvPr id="96" name="Google Shape;96;p18"/>
          <p:cNvSpPr/>
          <p:nvPr/>
        </p:nvSpPr>
        <p:spPr>
          <a:xfrm>
            <a:off x="3291840" y="1828800"/>
            <a:ext cx="2523744"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45566"/>
              </a:buClr>
              <a:buSzPts val="1050"/>
              <a:buFont typeface="Calibri"/>
              <a:buNone/>
            </a:pPr>
            <a:r>
              <a:rPr b="0" i="0" lang="en-GB" sz="1050" u="none" cap="none" strike="noStrike">
                <a:solidFill>
                  <a:srgbClr val="445566"/>
                </a:solidFill>
                <a:latin typeface="Calibri"/>
                <a:ea typeface="Calibri"/>
                <a:cs typeface="Calibri"/>
                <a:sym typeface="Calibri"/>
              </a:rPr>
              <a:t>6 modes: set qty, add, remove, reprice, rename, update all.</a:t>
            </a:r>
            <a:endParaRPr b="0" i="0" sz="1050" u="none" cap="none" strike="noStrike">
              <a:solidFill>
                <a:schemeClr val="dk1"/>
              </a:solidFill>
              <a:latin typeface="Calibri"/>
              <a:ea typeface="Calibri"/>
              <a:cs typeface="Calibri"/>
              <a:sym typeface="Calibri"/>
            </a:endParaRPr>
          </a:p>
        </p:txBody>
      </p:sp>
      <p:sp>
        <p:nvSpPr>
          <p:cNvPr id="97" name="Google Shape;97;p18"/>
          <p:cNvSpPr/>
          <p:nvPr/>
        </p:nvSpPr>
        <p:spPr>
          <a:xfrm>
            <a:off x="6089904" y="1188720"/>
            <a:ext cx="2743200" cy="1691640"/>
          </a:xfrm>
          <a:prstGeom prst="rect">
            <a:avLst/>
          </a:prstGeom>
          <a:solidFill>
            <a:srgbClr val="F4F9FF"/>
          </a:solidFill>
          <a:ln cap="flat" cmpd="sng" w="12700">
            <a:solidFill>
              <a:srgbClr val="D5E8F5"/>
            </a:solidFill>
            <a:prstDash val="solid"/>
            <a:round/>
            <a:headEnd len="sm" w="sm" type="none"/>
            <a:tailEnd len="sm" w="sm" type="none"/>
          </a:ln>
          <a:effectLst>
            <a:outerShdw blurRad="635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8"/>
          <p:cNvSpPr/>
          <p:nvPr/>
        </p:nvSpPr>
        <p:spPr>
          <a:xfrm>
            <a:off x="6089904" y="1188720"/>
            <a:ext cx="2743200" cy="73152"/>
          </a:xfrm>
          <a:prstGeom prst="rect">
            <a:avLst/>
          </a:prstGeom>
          <a:solidFill>
            <a:srgbClr val="0D7A5F"/>
          </a:solidFill>
          <a:ln cap="flat" cmpd="sng" w="12700">
            <a:solidFill>
              <a:srgbClr val="0D7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8"/>
          <p:cNvSpPr/>
          <p:nvPr/>
        </p:nvSpPr>
        <p:spPr>
          <a:xfrm>
            <a:off x="6199632" y="1353312"/>
            <a:ext cx="347472" cy="347472"/>
          </a:xfrm>
          <a:prstGeom prst="rect">
            <a:avLst/>
          </a:prstGeom>
          <a:solidFill>
            <a:srgbClr val="0D7A5F"/>
          </a:solidFill>
          <a:ln cap="flat" cmpd="sng" w="12700">
            <a:solidFill>
              <a:srgbClr val="0D7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8"/>
          <p:cNvSpPr/>
          <p:nvPr/>
        </p:nvSpPr>
        <p:spPr>
          <a:xfrm>
            <a:off x="6199632" y="135331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GB" sz="1000" u="none" cap="none" strike="noStrike">
                <a:solidFill>
                  <a:srgbClr val="FFFFFF"/>
                </a:solidFill>
                <a:latin typeface="Calibri"/>
                <a:ea typeface="Calibri"/>
                <a:cs typeface="Calibri"/>
                <a:sym typeface="Calibri"/>
              </a:rPr>
              <a:t>03</a:t>
            </a:r>
            <a:endParaRPr b="0" i="0" sz="1000" u="none" cap="none" strike="noStrike">
              <a:solidFill>
                <a:schemeClr val="dk1"/>
              </a:solidFill>
              <a:latin typeface="Calibri"/>
              <a:ea typeface="Calibri"/>
              <a:cs typeface="Calibri"/>
              <a:sym typeface="Calibri"/>
            </a:endParaRPr>
          </a:p>
        </p:txBody>
      </p:sp>
      <p:sp>
        <p:nvSpPr>
          <p:cNvPr id="101" name="Google Shape;101;p18"/>
          <p:cNvSpPr/>
          <p:nvPr/>
        </p:nvSpPr>
        <p:spPr>
          <a:xfrm>
            <a:off x="6638544" y="1353312"/>
            <a:ext cx="208483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1300"/>
              <a:buFont typeface="Calibri"/>
              <a:buNone/>
            </a:pPr>
            <a:r>
              <a:rPr b="1" i="0" lang="en-GB" sz="1300" u="none" cap="none" strike="noStrike">
                <a:solidFill>
                  <a:srgbClr val="1A2E4A"/>
                </a:solidFill>
                <a:latin typeface="Calibri"/>
                <a:ea typeface="Calibri"/>
                <a:cs typeface="Calibri"/>
                <a:sym typeface="Calibri"/>
              </a:rPr>
              <a:t>Display Inventory</a:t>
            </a:r>
            <a:endParaRPr b="0" i="0" sz="1300" u="none" cap="none" strike="noStrike">
              <a:solidFill>
                <a:schemeClr val="dk1"/>
              </a:solidFill>
              <a:latin typeface="Calibri"/>
              <a:ea typeface="Calibri"/>
              <a:cs typeface="Calibri"/>
              <a:sym typeface="Calibri"/>
            </a:endParaRPr>
          </a:p>
        </p:txBody>
      </p:sp>
      <p:sp>
        <p:nvSpPr>
          <p:cNvPr id="102" name="Google Shape;102;p18"/>
          <p:cNvSpPr/>
          <p:nvPr/>
        </p:nvSpPr>
        <p:spPr>
          <a:xfrm>
            <a:off x="6199632" y="1828800"/>
            <a:ext cx="2523744"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45566"/>
              </a:buClr>
              <a:buSzPts val="1050"/>
              <a:buFont typeface="Calibri"/>
              <a:buNone/>
            </a:pPr>
            <a:r>
              <a:rPr b="0" i="0" lang="en-GB" sz="1050" u="none" cap="none" strike="noStrike">
                <a:solidFill>
                  <a:srgbClr val="445566"/>
                </a:solidFill>
                <a:latin typeface="Calibri"/>
                <a:ea typeface="Calibri"/>
                <a:cs typeface="Calibri"/>
                <a:sym typeface="Calibri"/>
              </a:rPr>
              <a:t>Formatted table with per-item value and total inventory value.</a:t>
            </a:r>
            <a:endParaRPr b="0" i="0" sz="1050" u="none" cap="none" strike="noStrike">
              <a:solidFill>
                <a:schemeClr val="dk1"/>
              </a:solidFill>
              <a:latin typeface="Calibri"/>
              <a:ea typeface="Calibri"/>
              <a:cs typeface="Calibri"/>
              <a:sym typeface="Calibri"/>
            </a:endParaRPr>
          </a:p>
        </p:txBody>
      </p:sp>
      <p:sp>
        <p:nvSpPr>
          <p:cNvPr id="103" name="Google Shape;103;p18"/>
          <p:cNvSpPr/>
          <p:nvPr/>
        </p:nvSpPr>
        <p:spPr>
          <a:xfrm>
            <a:off x="274320" y="3063240"/>
            <a:ext cx="2743200" cy="1691640"/>
          </a:xfrm>
          <a:prstGeom prst="rect">
            <a:avLst/>
          </a:prstGeom>
          <a:solidFill>
            <a:srgbClr val="F4F9FF"/>
          </a:solidFill>
          <a:ln cap="flat" cmpd="sng" w="12700">
            <a:solidFill>
              <a:srgbClr val="D5E8F5"/>
            </a:solidFill>
            <a:prstDash val="solid"/>
            <a:round/>
            <a:headEnd len="sm" w="sm" type="none"/>
            <a:tailEnd len="sm" w="sm" type="none"/>
          </a:ln>
          <a:effectLst>
            <a:outerShdw blurRad="635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8"/>
          <p:cNvSpPr/>
          <p:nvPr/>
        </p:nvSpPr>
        <p:spPr>
          <a:xfrm>
            <a:off x="274320" y="3063240"/>
            <a:ext cx="2743200" cy="73152"/>
          </a:xfrm>
          <a:prstGeom prst="rect">
            <a:avLst/>
          </a:prstGeom>
          <a:solidFill>
            <a:srgbClr val="7B3FA0"/>
          </a:solidFill>
          <a:ln cap="flat" cmpd="sng" w="12700">
            <a:solidFill>
              <a:srgbClr val="7B3F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8"/>
          <p:cNvSpPr/>
          <p:nvPr/>
        </p:nvSpPr>
        <p:spPr>
          <a:xfrm>
            <a:off x="384048" y="3227832"/>
            <a:ext cx="347472" cy="347472"/>
          </a:xfrm>
          <a:prstGeom prst="rect">
            <a:avLst/>
          </a:prstGeom>
          <a:solidFill>
            <a:srgbClr val="7B3FA0"/>
          </a:solidFill>
          <a:ln cap="flat" cmpd="sng" w="12700">
            <a:solidFill>
              <a:srgbClr val="7B3F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8"/>
          <p:cNvSpPr/>
          <p:nvPr/>
        </p:nvSpPr>
        <p:spPr>
          <a:xfrm>
            <a:off x="384048" y="322783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GB" sz="1000" u="none" cap="none" strike="noStrike">
                <a:solidFill>
                  <a:srgbClr val="FFFFFF"/>
                </a:solidFill>
                <a:latin typeface="Calibri"/>
                <a:ea typeface="Calibri"/>
                <a:cs typeface="Calibri"/>
                <a:sym typeface="Calibri"/>
              </a:rPr>
              <a:t>04</a:t>
            </a:r>
            <a:endParaRPr b="0" i="0" sz="1000" u="none" cap="none" strike="noStrike">
              <a:solidFill>
                <a:schemeClr val="dk1"/>
              </a:solidFill>
              <a:latin typeface="Calibri"/>
              <a:ea typeface="Calibri"/>
              <a:cs typeface="Calibri"/>
              <a:sym typeface="Calibri"/>
            </a:endParaRPr>
          </a:p>
        </p:txBody>
      </p:sp>
      <p:sp>
        <p:nvSpPr>
          <p:cNvPr id="107" name="Google Shape;107;p18"/>
          <p:cNvSpPr/>
          <p:nvPr/>
        </p:nvSpPr>
        <p:spPr>
          <a:xfrm>
            <a:off x="822960" y="3227832"/>
            <a:ext cx="208483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1300"/>
              <a:buFont typeface="Calibri"/>
              <a:buNone/>
            </a:pPr>
            <a:r>
              <a:rPr b="1" i="0" lang="en-GB" sz="1300" u="none" cap="none" strike="noStrike">
                <a:solidFill>
                  <a:srgbClr val="1A2E4A"/>
                </a:solidFill>
                <a:latin typeface="Calibri"/>
                <a:ea typeface="Calibri"/>
                <a:cs typeface="Calibri"/>
                <a:sym typeface="Calibri"/>
              </a:rPr>
              <a:t>Search</a:t>
            </a:r>
            <a:endParaRPr b="0" i="0" sz="1300" u="none" cap="none" strike="noStrike">
              <a:solidFill>
                <a:schemeClr val="dk1"/>
              </a:solidFill>
              <a:latin typeface="Calibri"/>
              <a:ea typeface="Calibri"/>
              <a:cs typeface="Calibri"/>
              <a:sym typeface="Calibri"/>
            </a:endParaRPr>
          </a:p>
        </p:txBody>
      </p:sp>
      <p:sp>
        <p:nvSpPr>
          <p:cNvPr id="108" name="Google Shape;108;p18"/>
          <p:cNvSpPr/>
          <p:nvPr/>
        </p:nvSpPr>
        <p:spPr>
          <a:xfrm>
            <a:off x="384048" y="3703320"/>
            <a:ext cx="2523744"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45566"/>
              </a:buClr>
              <a:buSzPts val="1050"/>
              <a:buFont typeface="Calibri"/>
              <a:buNone/>
            </a:pPr>
            <a:r>
              <a:rPr b="0" i="0" lang="en-GB" sz="1050" u="none" cap="none" strike="noStrike">
                <a:solidFill>
                  <a:srgbClr val="445566"/>
                </a:solidFill>
                <a:latin typeface="Calibri"/>
                <a:ea typeface="Calibri"/>
                <a:cs typeface="Calibri"/>
                <a:sym typeface="Calibri"/>
              </a:rPr>
              <a:t>By exact ID or case-insensitive keyword across product names.</a:t>
            </a:r>
            <a:endParaRPr b="0" i="0" sz="1050" u="none" cap="none" strike="noStrike">
              <a:solidFill>
                <a:schemeClr val="dk1"/>
              </a:solidFill>
              <a:latin typeface="Calibri"/>
              <a:ea typeface="Calibri"/>
              <a:cs typeface="Calibri"/>
              <a:sym typeface="Calibri"/>
            </a:endParaRPr>
          </a:p>
        </p:txBody>
      </p:sp>
      <p:sp>
        <p:nvSpPr>
          <p:cNvPr id="109" name="Google Shape;109;p18"/>
          <p:cNvSpPr/>
          <p:nvPr/>
        </p:nvSpPr>
        <p:spPr>
          <a:xfrm>
            <a:off x="3182112" y="3063240"/>
            <a:ext cx="2743200" cy="1691640"/>
          </a:xfrm>
          <a:prstGeom prst="rect">
            <a:avLst/>
          </a:prstGeom>
          <a:solidFill>
            <a:srgbClr val="F4F9FF"/>
          </a:solidFill>
          <a:ln cap="flat" cmpd="sng" w="12700">
            <a:solidFill>
              <a:srgbClr val="D5E8F5"/>
            </a:solidFill>
            <a:prstDash val="solid"/>
            <a:round/>
            <a:headEnd len="sm" w="sm" type="none"/>
            <a:tailEnd len="sm" w="sm" type="none"/>
          </a:ln>
          <a:effectLst>
            <a:outerShdw blurRad="635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8"/>
          <p:cNvSpPr/>
          <p:nvPr/>
        </p:nvSpPr>
        <p:spPr>
          <a:xfrm>
            <a:off x="3182112" y="3063240"/>
            <a:ext cx="2743200" cy="73152"/>
          </a:xfrm>
          <a:prstGeom prst="rect">
            <a:avLst/>
          </a:prstGeom>
          <a:solidFill>
            <a:srgbClr val="E74C3C"/>
          </a:solidFill>
          <a:ln cap="flat" cmpd="sng" w="12700">
            <a:solidFill>
              <a:srgbClr val="E74C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8"/>
          <p:cNvSpPr/>
          <p:nvPr/>
        </p:nvSpPr>
        <p:spPr>
          <a:xfrm>
            <a:off x="3291840" y="3227832"/>
            <a:ext cx="347472" cy="347472"/>
          </a:xfrm>
          <a:prstGeom prst="rect">
            <a:avLst/>
          </a:prstGeom>
          <a:solidFill>
            <a:srgbClr val="E74C3C"/>
          </a:solidFill>
          <a:ln cap="flat" cmpd="sng" w="12700">
            <a:solidFill>
              <a:srgbClr val="E74C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8"/>
          <p:cNvSpPr/>
          <p:nvPr/>
        </p:nvSpPr>
        <p:spPr>
          <a:xfrm>
            <a:off x="3291840" y="322783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GB" sz="1000" u="none" cap="none" strike="noStrike">
                <a:solidFill>
                  <a:srgbClr val="FFFFFF"/>
                </a:solidFill>
                <a:latin typeface="Calibri"/>
                <a:ea typeface="Calibri"/>
                <a:cs typeface="Calibri"/>
                <a:sym typeface="Calibri"/>
              </a:rPr>
              <a:t>05</a:t>
            </a:r>
            <a:endParaRPr b="0" i="0" sz="1000" u="none" cap="none" strike="noStrike">
              <a:solidFill>
                <a:schemeClr val="dk1"/>
              </a:solidFill>
              <a:latin typeface="Calibri"/>
              <a:ea typeface="Calibri"/>
              <a:cs typeface="Calibri"/>
              <a:sym typeface="Calibri"/>
            </a:endParaRPr>
          </a:p>
        </p:txBody>
      </p:sp>
      <p:sp>
        <p:nvSpPr>
          <p:cNvPr id="113" name="Google Shape;113;p18"/>
          <p:cNvSpPr/>
          <p:nvPr/>
        </p:nvSpPr>
        <p:spPr>
          <a:xfrm>
            <a:off x="3730752" y="3227832"/>
            <a:ext cx="208483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1300"/>
              <a:buFont typeface="Calibri"/>
              <a:buNone/>
            </a:pPr>
            <a:r>
              <a:rPr b="1" i="0" lang="en-GB" sz="1300" u="none" cap="none" strike="noStrike">
                <a:solidFill>
                  <a:srgbClr val="1A2E4A"/>
                </a:solidFill>
                <a:latin typeface="Calibri"/>
                <a:ea typeface="Calibri"/>
                <a:cs typeface="Calibri"/>
                <a:sym typeface="Calibri"/>
              </a:rPr>
              <a:t>Remove Product</a:t>
            </a:r>
            <a:endParaRPr b="0" i="0" sz="1300" u="none" cap="none" strike="noStrike">
              <a:solidFill>
                <a:schemeClr val="dk1"/>
              </a:solidFill>
              <a:latin typeface="Calibri"/>
              <a:ea typeface="Calibri"/>
              <a:cs typeface="Calibri"/>
              <a:sym typeface="Calibri"/>
            </a:endParaRPr>
          </a:p>
        </p:txBody>
      </p:sp>
      <p:sp>
        <p:nvSpPr>
          <p:cNvPr id="114" name="Google Shape;114;p18"/>
          <p:cNvSpPr/>
          <p:nvPr/>
        </p:nvSpPr>
        <p:spPr>
          <a:xfrm>
            <a:off x="3291840" y="3703320"/>
            <a:ext cx="2523744"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45566"/>
              </a:buClr>
              <a:buSzPts val="1050"/>
              <a:buFont typeface="Calibri"/>
              <a:buNone/>
            </a:pPr>
            <a:r>
              <a:rPr b="0" i="0" lang="en-GB" sz="1050" u="none" cap="none" strike="noStrike">
                <a:solidFill>
                  <a:srgbClr val="445566"/>
                </a:solidFill>
                <a:latin typeface="Calibri"/>
                <a:ea typeface="Calibri"/>
                <a:cs typeface="Calibri"/>
                <a:sym typeface="Calibri"/>
              </a:rPr>
              <a:t>Confirm prompt prevents accidental deletion. Auto-saves after.</a:t>
            </a:r>
            <a:endParaRPr b="0" i="0" sz="1050" u="none" cap="none" strike="noStrike">
              <a:solidFill>
                <a:schemeClr val="dk1"/>
              </a:solidFill>
              <a:latin typeface="Calibri"/>
              <a:ea typeface="Calibri"/>
              <a:cs typeface="Calibri"/>
              <a:sym typeface="Calibri"/>
            </a:endParaRPr>
          </a:p>
        </p:txBody>
      </p:sp>
      <p:sp>
        <p:nvSpPr>
          <p:cNvPr id="115" name="Google Shape;115;p18"/>
          <p:cNvSpPr/>
          <p:nvPr/>
        </p:nvSpPr>
        <p:spPr>
          <a:xfrm>
            <a:off x="6089904" y="3063240"/>
            <a:ext cx="2743200" cy="1691640"/>
          </a:xfrm>
          <a:prstGeom prst="rect">
            <a:avLst/>
          </a:prstGeom>
          <a:solidFill>
            <a:srgbClr val="F4F9FF"/>
          </a:solidFill>
          <a:ln cap="flat" cmpd="sng" w="12700">
            <a:solidFill>
              <a:srgbClr val="D5E8F5"/>
            </a:solidFill>
            <a:prstDash val="solid"/>
            <a:round/>
            <a:headEnd len="sm" w="sm" type="none"/>
            <a:tailEnd len="sm" w="sm" type="none"/>
          </a:ln>
          <a:effectLst>
            <a:outerShdw blurRad="635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8"/>
          <p:cNvSpPr/>
          <p:nvPr/>
        </p:nvSpPr>
        <p:spPr>
          <a:xfrm>
            <a:off x="6089904" y="3063240"/>
            <a:ext cx="2743200" cy="73152"/>
          </a:xfrm>
          <a:prstGeom prst="rect">
            <a:avLst/>
          </a:prstGeom>
          <a:solidFill>
            <a:srgbClr val="E67E22"/>
          </a:solidFill>
          <a:ln cap="flat" cmpd="sng" w="12700">
            <a:solidFill>
              <a:srgbClr val="E67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8"/>
          <p:cNvSpPr/>
          <p:nvPr/>
        </p:nvSpPr>
        <p:spPr>
          <a:xfrm>
            <a:off x="6199632" y="3227832"/>
            <a:ext cx="347472" cy="347472"/>
          </a:xfrm>
          <a:prstGeom prst="rect">
            <a:avLst/>
          </a:prstGeom>
          <a:solidFill>
            <a:srgbClr val="E67E22"/>
          </a:solidFill>
          <a:ln cap="flat" cmpd="sng" w="12700">
            <a:solidFill>
              <a:srgbClr val="E67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8"/>
          <p:cNvSpPr/>
          <p:nvPr/>
        </p:nvSpPr>
        <p:spPr>
          <a:xfrm>
            <a:off x="6199632" y="322783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GB" sz="1000" u="none" cap="none" strike="noStrike">
                <a:solidFill>
                  <a:srgbClr val="FFFFFF"/>
                </a:solidFill>
                <a:latin typeface="Calibri"/>
                <a:ea typeface="Calibri"/>
                <a:cs typeface="Calibri"/>
                <a:sym typeface="Calibri"/>
              </a:rPr>
              <a:t>06</a:t>
            </a:r>
            <a:endParaRPr b="0" i="0" sz="1000" u="none" cap="none" strike="noStrike">
              <a:solidFill>
                <a:schemeClr val="dk1"/>
              </a:solidFill>
              <a:latin typeface="Calibri"/>
              <a:ea typeface="Calibri"/>
              <a:cs typeface="Calibri"/>
              <a:sym typeface="Calibri"/>
            </a:endParaRPr>
          </a:p>
        </p:txBody>
      </p:sp>
      <p:sp>
        <p:nvSpPr>
          <p:cNvPr id="119" name="Google Shape;119;p18"/>
          <p:cNvSpPr/>
          <p:nvPr/>
        </p:nvSpPr>
        <p:spPr>
          <a:xfrm>
            <a:off x="6638544" y="3227832"/>
            <a:ext cx="208483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A"/>
              </a:buClr>
              <a:buSzPts val="1300"/>
              <a:buFont typeface="Calibri"/>
              <a:buNone/>
            </a:pPr>
            <a:r>
              <a:rPr b="1" i="0" lang="en-GB" sz="1300" u="none" cap="none" strike="noStrike">
                <a:solidFill>
                  <a:srgbClr val="1A2E4A"/>
                </a:solidFill>
                <a:latin typeface="Calibri"/>
                <a:ea typeface="Calibri"/>
                <a:cs typeface="Calibri"/>
                <a:sym typeface="Calibri"/>
              </a:rPr>
              <a:t>CSV Persistence</a:t>
            </a:r>
            <a:endParaRPr b="0" i="0" sz="1300" u="none" cap="none" strike="noStrike">
              <a:solidFill>
                <a:schemeClr val="dk1"/>
              </a:solidFill>
              <a:latin typeface="Calibri"/>
              <a:ea typeface="Calibri"/>
              <a:cs typeface="Calibri"/>
              <a:sym typeface="Calibri"/>
            </a:endParaRPr>
          </a:p>
        </p:txBody>
      </p:sp>
      <p:sp>
        <p:nvSpPr>
          <p:cNvPr id="120" name="Google Shape;120;p18"/>
          <p:cNvSpPr/>
          <p:nvPr/>
        </p:nvSpPr>
        <p:spPr>
          <a:xfrm>
            <a:off x="6199632" y="3703320"/>
            <a:ext cx="2523744"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45566"/>
              </a:buClr>
              <a:buSzPts val="1050"/>
              <a:buFont typeface="Calibri"/>
              <a:buNone/>
            </a:pPr>
            <a:r>
              <a:rPr b="0" i="0" lang="en-GB" sz="1050" u="none" cap="none" strike="noStrike">
                <a:solidFill>
                  <a:srgbClr val="445566"/>
                </a:solidFill>
                <a:latin typeface="Calibri"/>
                <a:ea typeface="Calibri"/>
                <a:cs typeface="Calibri"/>
                <a:sym typeface="Calibri"/>
              </a:rPr>
              <a:t>RFC 4180-compliant save/load. Auto-saves after every mutation.</a:t>
            </a:r>
            <a:endParaRPr b="0" i="0" sz="1050" u="none" cap="none" strike="noStrike">
              <a:solidFill>
                <a:schemeClr val="dk1"/>
              </a:solidFill>
              <a:latin typeface="Calibri"/>
              <a:ea typeface="Calibri"/>
              <a:cs typeface="Calibri"/>
              <a:sym typeface="Calibri"/>
            </a:endParaRPr>
          </a:p>
        </p:txBody>
      </p:sp>
      <p:sp>
        <p:nvSpPr>
          <p:cNvPr id="121" name="Google Shape;121;p18"/>
          <p:cNvSpPr/>
          <p:nvPr/>
        </p:nvSpPr>
        <p:spPr>
          <a:xfrm>
            <a:off x="0" y="4828032"/>
            <a:ext cx="9144000" cy="315468"/>
          </a:xfrm>
          <a:prstGeom prst="rect">
            <a:avLst/>
          </a:prstGeom>
          <a:solidFill>
            <a:srgbClr val="1A2E4A"/>
          </a:solidFill>
          <a:ln cap="flat" cmpd="sng" w="12700">
            <a:solidFill>
              <a:srgbClr val="1A2E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8"/>
          <p:cNvSpPr/>
          <p:nvPr/>
        </p:nvSpPr>
        <p:spPr>
          <a:xfrm>
            <a:off x="8046720" y="4828032"/>
            <a:ext cx="914400" cy="3154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0" i="0" lang="en-GB" sz="1000" u="none" cap="none" strike="noStrike">
                <a:solidFill>
                  <a:srgbClr val="FFFFFF"/>
                </a:solidFill>
                <a:latin typeface="Calibri"/>
                <a:ea typeface="Calibri"/>
                <a:cs typeface="Calibri"/>
                <a:sym typeface="Calibri"/>
              </a:rPr>
              <a:t>2 / 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 name="Shape 127"/>
        <p:cNvGrpSpPr/>
        <p:nvPr/>
      </p:nvGrpSpPr>
      <p:grpSpPr>
        <a:xfrm>
          <a:off x="0" y="0"/>
          <a:ext cx="0" cy="0"/>
          <a:chOff x="0" y="0"/>
          <a:chExt cx="0" cy="0"/>
        </a:xfrm>
      </p:grpSpPr>
      <p:sp>
        <p:nvSpPr>
          <p:cNvPr id="128" name="Google Shape;128;p19"/>
          <p:cNvSpPr/>
          <p:nvPr/>
        </p:nvSpPr>
        <p:spPr>
          <a:xfrm>
            <a:off x="0" y="0"/>
            <a:ext cx="9144000" cy="914400"/>
          </a:xfrm>
          <a:prstGeom prst="rect">
            <a:avLst/>
          </a:prstGeom>
          <a:solidFill>
            <a:srgbClr val="1A2E4A"/>
          </a:solidFill>
          <a:ln cap="flat" cmpd="sng" w="12700">
            <a:solidFill>
              <a:srgbClr val="1A2E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9"/>
          <p:cNvSpPr/>
          <p:nvPr/>
        </p:nvSpPr>
        <p:spPr>
          <a:xfrm>
            <a:off x="365760" y="0"/>
            <a:ext cx="8229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Calibri"/>
              <a:buNone/>
            </a:pPr>
            <a:r>
              <a:rPr b="1" i="0" lang="en-GB" sz="3200" u="none" cap="none" strike="noStrike">
                <a:solidFill>
                  <a:srgbClr val="FFFFFF"/>
                </a:solidFill>
                <a:latin typeface="Calibri"/>
                <a:ea typeface="Calibri"/>
                <a:cs typeface="Calibri"/>
                <a:sym typeface="Calibri"/>
              </a:rPr>
              <a:t>How It Works</a:t>
            </a:r>
            <a:endParaRPr b="0" i="0" sz="3200" u="none" cap="none" strike="noStrike">
              <a:solidFill>
                <a:schemeClr val="dk1"/>
              </a:solidFill>
              <a:latin typeface="Calibri"/>
              <a:ea typeface="Calibri"/>
              <a:cs typeface="Calibri"/>
              <a:sym typeface="Calibri"/>
            </a:endParaRPr>
          </a:p>
        </p:txBody>
      </p:sp>
      <p:sp>
        <p:nvSpPr>
          <p:cNvPr id="130" name="Google Shape;130;p19"/>
          <p:cNvSpPr/>
          <p:nvPr/>
        </p:nvSpPr>
        <p:spPr>
          <a:xfrm>
            <a:off x="365760" y="1005840"/>
            <a:ext cx="8412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400"/>
              <a:buFont typeface="Calibri"/>
              <a:buNone/>
            </a:pPr>
            <a:r>
              <a:rPr b="0" i="0" lang="en-GB" sz="1400" u="none" cap="none" strike="noStrike">
                <a:solidFill>
                  <a:srgbClr val="555555"/>
                </a:solidFill>
                <a:latin typeface="Calibri"/>
                <a:ea typeface="Calibri"/>
                <a:cs typeface="Calibri"/>
                <a:sym typeface="Calibri"/>
              </a:rPr>
              <a:t>The app follows a simple 5-step flow every time you use it:</a:t>
            </a:r>
            <a:endParaRPr b="0" i="0" sz="1400" u="none" cap="none" strike="noStrike">
              <a:solidFill>
                <a:schemeClr val="dk1"/>
              </a:solidFill>
              <a:latin typeface="Calibri"/>
              <a:ea typeface="Calibri"/>
              <a:cs typeface="Calibri"/>
              <a:sym typeface="Calibri"/>
            </a:endParaRPr>
          </a:p>
        </p:txBody>
      </p:sp>
      <p:sp>
        <p:nvSpPr>
          <p:cNvPr id="131" name="Google Shape;131;p19"/>
          <p:cNvSpPr/>
          <p:nvPr/>
        </p:nvSpPr>
        <p:spPr>
          <a:xfrm>
            <a:off x="274320" y="1600200"/>
            <a:ext cx="1508760" cy="2377440"/>
          </a:xfrm>
          <a:prstGeom prst="rect">
            <a:avLst/>
          </a:prstGeom>
          <a:solidFill>
            <a:srgbClr val="F0F6FC"/>
          </a:solidFill>
          <a:ln cap="flat" cmpd="sng" w="25400">
            <a:solidFill>
              <a:srgbClr val="2E8B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9"/>
          <p:cNvSpPr/>
          <p:nvPr/>
        </p:nvSpPr>
        <p:spPr>
          <a:xfrm>
            <a:off x="685800" y="1764792"/>
            <a:ext cx="685800" cy="685800"/>
          </a:xfrm>
          <a:prstGeom prst="ellipse">
            <a:avLst/>
          </a:prstGeom>
          <a:solidFill>
            <a:srgbClr val="2E8BC0"/>
          </a:solidFill>
          <a:ln cap="flat" cmpd="sng" w="12700">
            <a:solidFill>
              <a:srgbClr val="2E8B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9"/>
          <p:cNvSpPr/>
          <p:nvPr/>
        </p:nvSpPr>
        <p:spPr>
          <a:xfrm>
            <a:off x="685800" y="1764792"/>
            <a:ext cx="685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GB" sz="1800" u="none" cap="none" strike="noStrike">
                <a:solidFill>
                  <a:srgbClr val="FFFFFF"/>
                </a:solidFill>
                <a:latin typeface="Calibri"/>
                <a:ea typeface="Calibri"/>
                <a:cs typeface="Calibri"/>
                <a:sym typeface="Calibri"/>
              </a:rPr>
              <a:t>1</a:t>
            </a:r>
            <a:endParaRPr b="0" i="0" sz="1800" u="none" cap="none" strike="noStrike">
              <a:solidFill>
                <a:schemeClr val="dk1"/>
              </a:solidFill>
              <a:latin typeface="Calibri"/>
              <a:ea typeface="Calibri"/>
              <a:cs typeface="Calibri"/>
              <a:sym typeface="Calibri"/>
            </a:endParaRPr>
          </a:p>
        </p:txBody>
      </p:sp>
      <p:sp>
        <p:nvSpPr>
          <p:cNvPr id="134" name="Google Shape;134;p19"/>
          <p:cNvSpPr/>
          <p:nvPr/>
        </p:nvSpPr>
        <p:spPr>
          <a:xfrm>
            <a:off x="365760" y="2560320"/>
            <a:ext cx="13258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E4A"/>
              </a:buClr>
              <a:buSzPts val="1200"/>
              <a:buFont typeface="Calibri"/>
              <a:buNone/>
            </a:pPr>
            <a:r>
              <a:rPr b="1" i="0" lang="en-GB" sz="1200" u="none" cap="none" strike="noStrike">
                <a:solidFill>
                  <a:srgbClr val="1A2E4A"/>
                </a:solidFill>
                <a:latin typeface="Calibri"/>
                <a:ea typeface="Calibri"/>
                <a:cs typeface="Calibri"/>
                <a:sym typeface="Calibri"/>
              </a:rPr>
              <a:t>Start Up</a:t>
            </a:r>
            <a:endParaRPr b="0" i="0" sz="1200" u="none" cap="none" strike="noStrike">
              <a:solidFill>
                <a:schemeClr val="dk1"/>
              </a:solidFill>
              <a:latin typeface="Calibri"/>
              <a:ea typeface="Calibri"/>
              <a:cs typeface="Calibri"/>
              <a:sym typeface="Calibri"/>
            </a:endParaRPr>
          </a:p>
        </p:txBody>
      </p:sp>
      <p:sp>
        <p:nvSpPr>
          <p:cNvPr id="135" name="Google Shape;135;p19"/>
          <p:cNvSpPr/>
          <p:nvPr/>
        </p:nvSpPr>
        <p:spPr>
          <a:xfrm>
            <a:off x="365760" y="3017520"/>
            <a:ext cx="1325880" cy="8229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55555"/>
              </a:buClr>
              <a:buSzPts val="1050"/>
              <a:buFont typeface="Calibri"/>
              <a:buNone/>
            </a:pPr>
            <a:r>
              <a:rPr b="0" i="0" lang="en-GB" sz="1050" u="none" cap="none" strike="noStrike">
                <a:solidFill>
                  <a:srgbClr val="555555"/>
                </a:solidFill>
                <a:latin typeface="Calibri"/>
                <a:ea typeface="Calibri"/>
                <a:cs typeface="Calibri"/>
                <a:sym typeface="Calibri"/>
              </a:rPr>
              <a:t>App loads saved data</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55555"/>
              </a:buClr>
              <a:buSzPts val="1050"/>
              <a:buFont typeface="Calibri"/>
              <a:buNone/>
            </a:pPr>
            <a:r>
              <a:rPr b="0" i="0" lang="en-GB" sz="1050" u="none" cap="none" strike="noStrike">
                <a:solidFill>
                  <a:srgbClr val="555555"/>
                </a:solidFill>
                <a:latin typeface="Calibri"/>
                <a:ea typeface="Calibri"/>
                <a:cs typeface="Calibri"/>
                <a:sym typeface="Calibri"/>
              </a:rPr>
              <a:t>from inventory.csv</a:t>
            </a:r>
            <a:endParaRPr b="0" i="0" sz="1050" u="none" cap="none" strike="noStrike">
              <a:solidFill>
                <a:schemeClr val="dk1"/>
              </a:solidFill>
              <a:latin typeface="Calibri"/>
              <a:ea typeface="Calibri"/>
              <a:cs typeface="Calibri"/>
              <a:sym typeface="Calibri"/>
            </a:endParaRPr>
          </a:p>
        </p:txBody>
      </p:sp>
      <p:cxnSp>
        <p:nvCxnSpPr>
          <p:cNvPr id="136" name="Google Shape;136;p19"/>
          <p:cNvCxnSpPr/>
          <p:nvPr/>
        </p:nvCxnSpPr>
        <p:spPr>
          <a:xfrm>
            <a:off x="1810512" y="2788920"/>
            <a:ext cx="182880" cy="0"/>
          </a:xfrm>
          <a:prstGeom prst="straightConnector1">
            <a:avLst/>
          </a:prstGeom>
          <a:noFill/>
          <a:ln cap="flat" cmpd="sng" w="19050">
            <a:solidFill>
              <a:srgbClr val="AAAAAA"/>
            </a:solidFill>
            <a:prstDash val="solid"/>
            <a:round/>
            <a:headEnd len="sm" w="sm" type="none"/>
            <a:tailEnd len="sm" w="sm" type="none"/>
          </a:ln>
        </p:spPr>
      </p:cxnSp>
      <p:sp>
        <p:nvSpPr>
          <p:cNvPr id="137" name="Google Shape;137;p19"/>
          <p:cNvSpPr/>
          <p:nvPr/>
        </p:nvSpPr>
        <p:spPr>
          <a:xfrm>
            <a:off x="1993392" y="1600200"/>
            <a:ext cx="1508760" cy="2377440"/>
          </a:xfrm>
          <a:prstGeom prst="rect">
            <a:avLst/>
          </a:prstGeom>
          <a:solidFill>
            <a:srgbClr val="F0F6FC"/>
          </a:solidFill>
          <a:ln cap="flat" cmpd="sng" w="254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9"/>
          <p:cNvSpPr/>
          <p:nvPr/>
        </p:nvSpPr>
        <p:spPr>
          <a:xfrm>
            <a:off x="2404872" y="1764792"/>
            <a:ext cx="685800" cy="685800"/>
          </a:xfrm>
          <a:prstGeom prst="ellipse">
            <a:avLst/>
          </a:prstGeom>
          <a:solidFill>
            <a:srgbClr val="27AE60"/>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9"/>
          <p:cNvSpPr/>
          <p:nvPr/>
        </p:nvSpPr>
        <p:spPr>
          <a:xfrm>
            <a:off x="2404872" y="1764792"/>
            <a:ext cx="685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GB" sz="1800" u="none" cap="none" strike="noStrike">
                <a:solidFill>
                  <a:srgbClr val="FFFFFF"/>
                </a:solidFill>
                <a:latin typeface="Calibri"/>
                <a:ea typeface="Calibri"/>
                <a:cs typeface="Calibri"/>
                <a:sym typeface="Calibri"/>
              </a:rPr>
              <a:t>2</a:t>
            </a:r>
            <a:endParaRPr b="0" i="0" sz="1800" u="none" cap="none" strike="noStrike">
              <a:solidFill>
                <a:schemeClr val="dk1"/>
              </a:solidFill>
              <a:latin typeface="Calibri"/>
              <a:ea typeface="Calibri"/>
              <a:cs typeface="Calibri"/>
              <a:sym typeface="Calibri"/>
            </a:endParaRPr>
          </a:p>
        </p:txBody>
      </p:sp>
      <p:sp>
        <p:nvSpPr>
          <p:cNvPr id="140" name="Google Shape;140;p19"/>
          <p:cNvSpPr/>
          <p:nvPr/>
        </p:nvSpPr>
        <p:spPr>
          <a:xfrm>
            <a:off x="2084832" y="2560320"/>
            <a:ext cx="13258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E4A"/>
              </a:buClr>
              <a:buSzPts val="1200"/>
              <a:buFont typeface="Calibri"/>
              <a:buNone/>
            </a:pPr>
            <a:r>
              <a:rPr b="1" i="0" lang="en-GB" sz="1200" u="none" cap="none" strike="noStrike">
                <a:solidFill>
                  <a:srgbClr val="1A2E4A"/>
                </a:solidFill>
                <a:latin typeface="Calibri"/>
                <a:ea typeface="Calibri"/>
                <a:cs typeface="Calibri"/>
                <a:sym typeface="Calibri"/>
              </a:rPr>
              <a:t>Show Menu</a:t>
            </a:r>
            <a:endParaRPr b="0" i="0" sz="1200" u="none" cap="none" strike="noStrike">
              <a:solidFill>
                <a:schemeClr val="dk1"/>
              </a:solidFill>
              <a:latin typeface="Calibri"/>
              <a:ea typeface="Calibri"/>
              <a:cs typeface="Calibri"/>
              <a:sym typeface="Calibri"/>
            </a:endParaRPr>
          </a:p>
        </p:txBody>
      </p:sp>
      <p:sp>
        <p:nvSpPr>
          <p:cNvPr id="141" name="Google Shape;141;p19"/>
          <p:cNvSpPr/>
          <p:nvPr/>
        </p:nvSpPr>
        <p:spPr>
          <a:xfrm>
            <a:off x="2084832" y="3017520"/>
            <a:ext cx="1325880" cy="8229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55555"/>
              </a:buClr>
              <a:buSzPts val="1050"/>
              <a:buFont typeface="Calibri"/>
              <a:buNone/>
            </a:pPr>
            <a:r>
              <a:rPr b="0" i="0" lang="en-GB" sz="1050" u="none" cap="none" strike="noStrike">
                <a:solidFill>
                  <a:srgbClr val="555555"/>
                </a:solidFill>
                <a:latin typeface="Calibri"/>
                <a:ea typeface="Calibri"/>
                <a:cs typeface="Calibri"/>
                <a:sym typeface="Calibri"/>
              </a:rPr>
              <a:t>User picks an action</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55555"/>
              </a:buClr>
              <a:buSzPts val="1050"/>
              <a:buFont typeface="Calibri"/>
              <a:buNone/>
            </a:pPr>
            <a:r>
              <a:rPr b="0" i="0" lang="en-GB" sz="1050" u="none" cap="none" strike="noStrike">
                <a:solidFill>
                  <a:srgbClr val="555555"/>
                </a:solidFill>
                <a:latin typeface="Calibri"/>
                <a:ea typeface="Calibri"/>
                <a:cs typeface="Calibri"/>
                <a:sym typeface="Calibri"/>
              </a:rPr>
              <a:t>from the menu (1–5)</a:t>
            </a:r>
            <a:endParaRPr b="0" i="0" sz="1050" u="none" cap="none" strike="noStrike">
              <a:solidFill>
                <a:schemeClr val="dk1"/>
              </a:solidFill>
              <a:latin typeface="Calibri"/>
              <a:ea typeface="Calibri"/>
              <a:cs typeface="Calibri"/>
              <a:sym typeface="Calibri"/>
            </a:endParaRPr>
          </a:p>
        </p:txBody>
      </p:sp>
      <p:cxnSp>
        <p:nvCxnSpPr>
          <p:cNvPr id="142" name="Google Shape;142;p19"/>
          <p:cNvCxnSpPr/>
          <p:nvPr/>
        </p:nvCxnSpPr>
        <p:spPr>
          <a:xfrm>
            <a:off x="3529584" y="2788920"/>
            <a:ext cx="182880" cy="0"/>
          </a:xfrm>
          <a:prstGeom prst="straightConnector1">
            <a:avLst/>
          </a:prstGeom>
          <a:noFill/>
          <a:ln cap="flat" cmpd="sng" w="19050">
            <a:solidFill>
              <a:srgbClr val="AAAAAA"/>
            </a:solidFill>
            <a:prstDash val="solid"/>
            <a:round/>
            <a:headEnd len="sm" w="sm" type="none"/>
            <a:tailEnd len="sm" w="sm" type="none"/>
          </a:ln>
        </p:spPr>
      </p:cxnSp>
      <p:sp>
        <p:nvSpPr>
          <p:cNvPr id="143" name="Google Shape;143;p19"/>
          <p:cNvSpPr/>
          <p:nvPr/>
        </p:nvSpPr>
        <p:spPr>
          <a:xfrm>
            <a:off x="3712464" y="1600200"/>
            <a:ext cx="1508760" cy="2377440"/>
          </a:xfrm>
          <a:prstGeom prst="rect">
            <a:avLst/>
          </a:prstGeom>
          <a:solidFill>
            <a:srgbClr val="F0F6FC"/>
          </a:solidFill>
          <a:ln cap="flat" cmpd="sng" w="25400">
            <a:solidFill>
              <a:srgbClr val="E67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9"/>
          <p:cNvSpPr/>
          <p:nvPr/>
        </p:nvSpPr>
        <p:spPr>
          <a:xfrm>
            <a:off x="4123944" y="1764792"/>
            <a:ext cx="685800" cy="685800"/>
          </a:xfrm>
          <a:prstGeom prst="ellipse">
            <a:avLst/>
          </a:prstGeom>
          <a:solidFill>
            <a:srgbClr val="E67E22"/>
          </a:solidFill>
          <a:ln cap="flat" cmpd="sng" w="12700">
            <a:solidFill>
              <a:srgbClr val="E67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9"/>
          <p:cNvSpPr/>
          <p:nvPr/>
        </p:nvSpPr>
        <p:spPr>
          <a:xfrm>
            <a:off x="4123944" y="1764792"/>
            <a:ext cx="685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GB" sz="1800" u="none" cap="none" strike="noStrike">
                <a:solidFill>
                  <a:srgbClr val="FFFFFF"/>
                </a:solidFill>
                <a:latin typeface="Calibri"/>
                <a:ea typeface="Calibri"/>
                <a:cs typeface="Calibri"/>
                <a:sym typeface="Calibri"/>
              </a:rPr>
              <a:t>3</a:t>
            </a:r>
            <a:endParaRPr b="0" i="0" sz="1800" u="none" cap="none" strike="noStrike">
              <a:solidFill>
                <a:schemeClr val="dk1"/>
              </a:solidFill>
              <a:latin typeface="Calibri"/>
              <a:ea typeface="Calibri"/>
              <a:cs typeface="Calibri"/>
              <a:sym typeface="Calibri"/>
            </a:endParaRPr>
          </a:p>
        </p:txBody>
      </p:sp>
      <p:sp>
        <p:nvSpPr>
          <p:cNvPr id="146" name="Google Shape;146;p19"/>
          <p:cNvSpPr/>
          <p:nvPr/>
        </p:nvSpPr>
        <p:spPr>
          <a:xfrm>
            <a:off x="3803904" y="2560320"/>
            <a:ext cx="13258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E4A"/>
              </a:buClr>
              <a:buSzPts val="1200"/>
              <a:buFont typeface="Calibri"/>
              <a:buNone/>
            </a:pPr>
            <a:r>
              <a:rPr b="1" i="0" lang="en-GB" sz="1200" u="none" cap="none" strike="noStrike">
                <a:solidFill>
                  <a:srgbClr val="1A2E4A"/>
                </a:solidFill>
                <a:latin typeface="Calibri"/>
                <a:ea typeface="Calibri"/>
                <a:cs typeface="Calibri"/>
                <a:sym typeface="Calibri"/>
              </a:rPr>
              <a:t>Do Action</a:t>
            </a:r>
            <a:endParaRPr b="0" i="0" sz="1200" u="none" cap="none" strike="noStrike">
              <a:solidFill>
                <a:schemeClr val="dk1"/>
              </a:solidFill>
              <a:latin typeface="Calibri"/>
              <a:ea typeface="Calibri"/>
              <a:cs typeface="Calibri"/>
              <a:sym typeface="Calibri"/>
            </a:endParaRPr>
          </a:p>
        </p:txBody>
      </p:sp>
      <p:sp>
        <p:nvSpPr>
          <p:cNvPr id="147" name="Google Shape;147;p19"/>
          <p:cNvSpPr/>
          <p:nvPr/>
        </p:nvSpPr>
        <p:spPr>
          <a:xfrm>
            <a:off x="3803904" y="3017520"/>
            <a:ext cx="1325880" cy="8229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55555"/>
              </a:buClr>
              <a:buSzPts val="1050"/>
              <a:buFont typeface="Calibri"/>
              <a:buNone/>
            </a:pPr>
            <a:r>
              <a:rPr b="0" i="0" lang="en-GB" sz="1050" u="none" cap="none" strike="noStrike">
                <a:solidFill>
                  <a:srgbClr val="555555"/>
                </a:solidFill>
                <a:latin typeface="Calibri"/>
                <a:ea typeface="Calibri"/>
                <a:cs typeface="Calibri"/>
                <a:sym typeface="Calibri"/>
              </a:rPr>
              <a:t>Add / update / search</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55555"/>
              </a:buClr>
              <a:buSzPts val="1050"/>
              <a:buFont typeface="Calibri"/>
              <a:buNone/>
            </a:pPr>
            <a:r>
              <a:rPr b="0" i="0" lang="en-GB" sz="1050" u="none" cap="none" strike="noStrike">
                <a:solidFill>
                  <a:srgbClr val="555555"/>
                </a:solidFill>
                <a:latin typeface="Calibri"/>
                <a:ea typeface="Calibri"/>
                <a:cs typeface="Calibri"/>
                <a:sym typeface="Calibri"/>
              </a:rPr>
              <a:t>or remove a product</a:t>
            </a:r>
            <a:endParaRPr b="0" i="0" sz="1050" u="none" cap="none" strike="noStrike">
              <a:solidFill>
                <a:schemeClr val="dk1"/>
              </a:solidFill>
              <a:latin typeface="Calibri"/>
              <a:ea typeface="Calibri"/>
              <a:cs typeface="Calibri"/>
              <a:sym typeface="Calibri"/>
            </a:endParaRPr>
          </a:p>
        </p:txBody>
      </p:sp>
      <p:cxnSp>
        <p:nvCxnSpPr>
          <p:cNvPr id="148" name="Google Shape;148;p19"/>
          <p:cNvCxnSpPr/>
          <p:nvPr/>
        </p:nvCxnSpPr>
        <p:spPr>
          <a:xfrm>
            <a:off x="5248656" y="2788920"/>
            <a:ext cx="182880" cy="0"/>
          </a:xfrm>
          <a:prstGeom prst="straightConnector1">
            <a:avLst/>
          </a:prstGeom>
          <a:noFill/>
          <a:ln cap="flat" cmpd="sng" w="19050">
            <a:solidFill>
              <a:srgbClr val="AAAAAA"/>
            </a:solidFill>
            <a:prstDash val="solid"/>
            <a:round/>
            <a:headEnd len="sm" w="sm" type="none"/>
            <a:tailEnd len="sm" w="sm" type="none"/>
          </a:ln>
        </p:spPr>
      </p:cxnSp>
      <p:sp>
        <p:nvSpPr>
          <p:cNvPr id="149" name="Google Shape;149;p19"/>
          <p:cNvSpPr/>
          <p:nvPr/>
        </p:nvSpPr>
        <p:spPr>
          <a:xfrm>
            <a:off x="5431536" y="1600200"/>
            <a:ext cx="1508760" cy="2377440"/>
          </a:xfrm>
          <a:prstGeom prst="rect">
            <a:avLst/>
          </a:prstGeom>
          <a:solidFill>
            <a:srgbClr val="F0F6FC"/>
          </a:solidFill>
          <a:ln cap="flat" cmpd="sng" w="25400">
            <a:solidFill>
              <a:srgbClr val="E74C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9"/>
          <p:cNvSpPr/>
          <p:nvPr/>
        </p:nvSpPr>
        <p:spPr>
          <a:xfrm>
            <a:off x="5843016" y="1764792"/>
            <a:ext cx="685800" cy="685800"/>
          </a:xfrm>
          <a:prstGeom prst="ellipse">
            <a:avLst/>
          </a:prstGeom>
          <a:solidFill>
            <a:srgbClr val="E74C3C"/>
          </a:solidFill>
          <a:ln cap="flat" cmpd="sng" w="12700">
            <a:solidFill>
              <a:srgbClr val="E74C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9"/>
          <p:cNvSpPr/>
          <p:nvPr/>
        </p:nvSpPr>
        <p:spPr>
          <a:xfrm>
            <a:off x="5843016" y="1764792"/>
            <a:ext cx="685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GB" sz="1800" u="none" cap="none" strike="noStrike">
                <a:solidFill>
                  <a:srgbClr val="FFFFFF"/>
                </a:solidFill>
                <a:latin typeface="Calibri"/>
                <a:ea typeface="Calibri"/>
                <a:cs typeface="Calibri"/>
                <a:sym typeface="Calibri"/>
              </a:rPr>
              <a:t>4</a:t>
            </a:r>
            <a:endParaRPr b="0" i="0" sz="1800" u="none" cap="none" strike="noStrike">
              <a:solidFill>
                <a:schemeClr val="dk1"/>
              </a:solidFill>
              <a:latin typeface="Calibri"/>
              <a:ea typeface="Calibri"/>
              <a:cs typeface="Calibri"/>
              <a:sym typeface="Calibri"/>
            </a:endParaRPr>
          </a:p>
        </p:txBody>
      </p:sp>
      <p:sp>
        <p:nvSpPr>
          <p:cNvPr id="152" name="Google Shape;152;p19"/>
          <p:cNvSpPr/>
          <p:nvPr/>
        </p:nvSpPr>
        <p:spPr>
          <a:xfrm>
            <a:off x="5522976" y="2560320"/>
            <a:ext cx="13258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E4A"/>
              </a:buClr>
              <a:buSzPts val="1200"/>
              <a:buFont typeface="Calibri"/>
              <a:buNone/>
            </a:pPr>
            <a:r>
              <a:rPr b="1" i="0" lang="en-GB" sz="1200" u="none" cap="none" strike="noStrike">
                <a:solidFill>
                  <a:srgbClr val="1A2E4A"/>
                </a:solidFill>
                <a:latin typeface="Calibri"/>
                <a:ea typeface="Calibri"/>
                <a:cs typeface="Calibri"/>
                <a:sym typeface="Calibri"/>
              </a:rPr>
              <a:t>Save</a:t>
            </a:r>
            <a:endParaRPr b="0" i="0" sz="1200" u="none" cap="none" strike="noStrike">
              <a:solidFill>
                <a:schemeClr val="dk1"/>
              </a:solidFill>
              <a:latin typeface="Calibri"/>
              <a:ea typeface="Calibri"/>
              <a:cs typeface="Calibri"/>
              <a:sym typeface="Calibri"/>
            </a:endParaRPr>
          </a:p>
        </p:txBody>
      </p:sp>
      <p:sp>
        <p:nvSpPr>
          <p:cNvPr id="153" name="Google Shape;153;p19"/>
          <p:cNvSpPr/>
          <p:nvPr/>
        </p:nvSpPr>
        <p:spPr>
          <a:xfrm>
            <a:off x="5522976" y="3017520"/>
            <a:ext cx="1325880" cy="8229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55555"/>
              </a:buClr>
              <a:buSzPts val="1050"/>
              <a:buFont typeface="Calibri"/>
              <a:buNone/>
            </a:pPr>
            <a:r>
              <a:rPr b="0" i="0" lang="en-GB" sz="1050" u="none" cap="none" strike="noStrike">
                <a:solidFill>
                  <a:srgbClr val="555555"/>
                </a:solidFill>
                <a:latin typeface="Calibri"/>
                <a:ea typeface="Calibri"/>
                <a:cs typeface="Calibri"/>
                <a:sym typeface="Calibri"/>
              </a:rPr>
              <a:t>Changes are saved</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55555"/>
              </a:buClr>
              <a:buSzPts val="1050"/>
              <a:buFont typeface="Calibri"/>
              <a:buNone/>
            </a:pPr>
            <a:r>
              <a:rPr b="0" i="0" lang="en-GB" sz="1050" u="none" cap="none" strike="noStrike">
                <a:solidFill>
                  <a:srgbClr val="555555"/>
                </a:solidFill>
                <a:latin typeface="Calibri"/>
                <a:ea typeface="Calibri"/>
                <a:cs typeface="Calibri"/>
                <a:sym typeface="Calibri"/>
              </a:rPr>
              <a:t>to CSV automatically</a:t>
            </a:r>
            <a:endParaRPr b="0" i="0" sz="1050" u="none" cap="none" strike="noStrike">
              <a:solidFill>
                <a:schemeClr val="dk1"/>
              </a:solidFill>
              <a:latin typeface="Calibri"/>
              <a:ea typeface="Calibri"/>
              <a:cs typeface="Calibri"/>
              <a:sym typeface="Calibri"/>
            </a:endParaRPr>
          </a:p>
        </p:txBody>
      </p:sp>
      <p:cxnSp>
        <p:nvCxnSpPr>
          <p:cNvPr id="154" name="Google Shape;154;p19"/>
          <p:cNvCxnSpPr/>
          <p:nvPr/>
        </p:nvCxnSpPr>
        <p:spPr>
          <a:xfrm>
            <a:off x="6967728" y="2788920"/>
            <a:ext cx="182880" cy="0"/>
          </a:xfrm>
          <a:prstGeom prst="straightConnector1">
            <a:avLst/>
          </a:prstGeom>
          <a:noFill/>
          <a:ln cap="flat" cmpd="sng" w="19050">
            <a:solidFill>
              <a:srgbClr val="AAAAAA"/>
            </a:solidFill>
            <a:prstDash val="solid"/>
            <a:round/>
            <a:headEnd len="sm" w="sm" type="none"/>
            <a:tailEnd len="sm" w="sm" type="none"/>
          </a:ln>
        </p:spPr>
      </p:cxnSp>
      <p:sp>
        <p:nvSpPr>
          <p:cNvPr id="155" name="Google Shape;155;p19"/>
          <p:cNvSpPr/>
          <p:nvPr/>
        </p:nvSpPr>
        <p:spPr>
          <a:xfrm>
            <a:off x="7150608" y="1600200"/>
            <a:ext cx="1508760" cy="2377440"/>
          </a:xfrm>
          <a:prstGeom prst="rect">
            <a:avLst/>
          </a:prstGeom>
          <a:solidFill>
            <a:srgbClr val="F0F6FC"/>
          </a:solidFill>
          <a:ln cap="flat" cmpd="sng" w="25400">
            <a:solidFill>
              <a:srgbClr val="8E44A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9"/>
          <p:cNvSpPr/>
          <p:nvPr/>
        </p:nvSpPr>
        <p:spPr>
          <a:xfrm>
            <a:off x="7562088" y="1764792"/>
            <a:ext cx="685800" cy="685800"/>
          </a:xfrm>
          <a:prstGeom prst="ellipse">
            <a:avLst/>
          </a:prstGeom>
          <a:solidFill>
            <a:srgbClr val="8E44AD"/>
          </a:solidFill>
          <a:ln cap="flat" cmpd="sng" w="12700">
            <a:solidFill>
              <a:srgbClr val="8E44A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9"/>
          <p:cNvSpPr/>
          <p:nvPr/>
        </p:nvSpPr>
        <p:spPr>
          <a:xfrm>
            <a:off x="7562088" y="1764792"/>
            <a:ext cx="685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GB" sz="1800" u="none" cap="none" strike="noStrike">
                <a:solidFill>
                  <a:srgbClr val="FFFFFF"/>
                </a:solidFill>
                <a:latin typeface="Calibri"/>
                <a:ea typeface="Calibri"/>
                <a:cs typeface="Calibri"/>
                <a:sym typeface="Calibri"/>
              </a:rPr>
              <a:t>5</a:t>
            </a:r>
            <a:endParaRPr b="0" i="0" sz="1800" u="none" cap="none" strike="noStrike">
              <a:solidFill>
                <a:schemeClr val="dk1"/>
              </a:solidFill>
              <a:latin typeface="Calibri"/>
              <a:ea typeface="Calibri"/>
              <a:cs typeface="Calibri"/>
              <a:sym typeface="Calibri"/>
            </a:endParaRPr>
          </a:p>
        </p:txBody>
      </p:sp>
      <p:sp>
        <p:nvSpPr>
          <p:cNvPr id="158" name="Google Shape;158;p19"/>
          <p:cNvSpPr/>
          <p:nvPr/>
        </p:nvSpPr>
        <p:spPr>
          <a:xfrm>
            <a:off x="7242048" y="2560320"/>
            <a:ext cx="13258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E4A"/>
              </a:buClr>
              <a:buSzPts val="1200"/>
              <a:buFont typeface="Calibri"/>
              <a:buNone/>
            </a:pPr>
            <a:r>
              <a:rPr b="1" i="0" lang="en-GB" sz="1200" u="none" cap="none" strike="noStrike">
                <a:solidFill>
                  <a:srgbClr val="1A2E4A"/>
                </a:solidFill>
                <a:latin typeface="Calibri"/>
                <a:ea typeface="Calibri"/>
                <a:cs typeface="Calibri"/>
                <a:sym typeface="Calibri"/>
              </a:rPr>
              <a:t>Show Result</a:t>
            </a:r>
            <a:endParaRPr b="0" i="0" sz="1200" u="none" cap="none" strike="noStrike">
              <a:solidFill>
                <a:schemeClr val="dk1"/>
              </a:solidFill>
              <a:latin typeface="Calibri"/>
              <a:ea typeface="Calibri"/>
              <a:cs typeface="Calibri"/>
              <a:sym typeface="Calibri"/>
            </a:endParaRPr>
          </a:p>
        </p:txBody>
      </p:sp>
      <p:sp>
        <p:nvSpPr>
          <p:cNvPr id="159" name="Google Shape;159;p19"/>
          <p:cNvSpPr/>
          <p:nvPr/>
        </p:nvSpPr>
        <p:spPr>
          <a:xfrm>
            <a:off x="7242048" y="3017520"/>
            <a:ext cx="1325880" cy="8229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55555"/>
              </a:buClr>
              <a:buSzPts val="1050"/>
              <a:buFont typeface="Calibri"/>
              <a:buNone/>
            </a:pPr>
            <a:r>
              <a:rPr b="0" i="0" lang="en-GB" sz="1050" u="none" cap="none" strike="noStrike">
                <a:solidFill>
                  <a:srgbClr val="555555"/>
                </a:solidFill>
                <a:latin typeface="Calibri"/>
                <a:ea typeface="Calibri"/>
                <a:cs typeface="Calibri"/>
                <a:sym typeface="Calibri"/>
              </a:rPr>
              <a:t>Updated table shown</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55555"/>
              </a:buClr>
              <a:buSzPts val="1050"/>
              <a:buFont typeface="Calibri"/>
              <a:buNone/>
            </a:pPr>
            <a:r>
              <a:rPr b="0" i="0" lang="en-GB" sz="1050" u="none" cap="none" strike="noStrike">
                <a:solidFill>
                  <a:srgbClr val="555555"/>
                </a:solidFill>
                <a:latin typeface="Calibri"/>
                <a:ea typeface="Calibri"/>
                <a:cs typeface="Calibri"/>
                <a:sym typeface="Calibri"/>
              </a:rPr>
              <a:t>with total value</a:t>
            </a:r>
            <a:endParaRPr b="0" i="0" sz="1050" u="none" cap="none" strike="noStrike">
              <a:solidFill>
                <a:schemeClr val="dk1"/>
              </a:solidFill>
              <a:latin typeface="Calibri"/>
              <a:ea typeface="Calibri"/>
              <a:cs typeface="Calibri"/>
              <a:sym typeface="Calibri"/>
            </a:endParaRPr>
          </a:p>
        </p:txBody>
      </p:sp>
      <p:sp>
        <p:nvSpPr>
          <p:cNvPr id="160" name="Google Shape;160;p19"/>
          <p:cNvSpPr/>
          <p:nvPr/>
        </p:nvSpPr>
        <p:spPr>
          <a:xfrm>
            <a:off x="274320" y="4133088"/>
            <a:ext cx="8595360" cy="594360"/>
          </a:xfrm>
          <a:prstGeom prst="rect">
            <a:avLst/>
          </a:prstGeom>
          <a:solidFill>
            <a:srgbClr val="F0F6FC"/>
          </a:solidFill>
          <a:ln cap="flat" cmpd="sng" w="12700">
            <a:solidFill>
              <a:srgbClr val="2E8B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9"/>
          <p:cNvSpPr/>
          <p:nvPr/>
        </p:nvSpPr>
        <p:spPr>
          <a:xfrm>
            <a:off x="457200" y="4133088"/>
            <a:ext cx="822960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E4A"/>
              </a:buClr>
              <a:buSzPts val="1200"/>
              <a:buFont typeface="Courier New"/>
              <a:buNone/>
            </a:pPr>
            <a:r>
              <a:rPr b="0" i="0" lang="en-GB" sz="1200" u="none" cap="none" strike="noStrike">
                <a:solidFill>
                  <a:srgbClr val="1A2E4A"/>
                </a:solidFill>
                <a:latin typeface="Courier New"/>
                <a:ea typeface="Courier New"/>
                <a:cs typeface="Courier New"/>
                <a:sym typeface="Courier New"/>
              </a:rPr>
              <a:t>Data stored as:   id  |  name  |  price  |  quantity   →  saved in inventory.csv</a:t>
            </a:r>
            <a:endParaRPr b="0" i="0" sz="1200" u="none" cap="none" strike="noStrike">
              <a:solidFill>
                <a:schemeClr val="dk1"/>
              </a:solidFill>
              <a:latin typeface="Calibri"/>
              <a:ea typeface="Calibri"/>
              <a:cs typeface="Calibri"/>
              <a:sym typeface="Calibri"/>
            </a:endParaRPr>
          </a:p>
        </p:txBody>
      </p:sp>
      <p:sp>
        <p:nvSpPr>
          <p:cNvPr id="162" name="Google Shape;162;p19"/>
          <p:cNvSpPr/>
          <p:nvPr/>
        </p:nvSpPr>
        <p:spPr>
          <a:xfrm>
            <a:off x="0" y="4828032"/>
            <a:ext cx="9144000" cy="315468"/>
          </a:xfrm>
          <a:prstGeom prst="rect">
            <a:avLst/>
          </a:prstGeom>
          <a:solidFill>
            <a:srgbClr val="1A2E4A"/>
          </a:solidFill>
          <a:ln cap="flat" cmpd="sng" w="12700">
            <a:solidFill>
              <a:srgbClr val="1A2E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9"/>
          <p:cNvSpPr/>
          <p:nvPr/>
        </p:nvSpPr>
        <p:spPr>
          <a:xfrm>
            <a:off x="8046720" y="4828032"/>
            <a:ext cx="914400" cy="3154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0" i="0" lang="en-GB" sz="1000" u="none" cap="none" strike="noStrike">
                <a:solidFill>
                  <a:srgbClr val="FFFFFF"/>
                </a:solidFill>
                <a:latin typeface="Calibri"/>
                <a:ea typeface="Calibri"/>
                <a:cs typeface="Calibri"/>
                <a:sym typeface="Calibri"/>
              </a:rPr>
              <a:t>3 / 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 name="Shape 168"/>
        <p:cNvGrpSpPr/>
        <p:nvPr/>
      </p:nvGrpSpPr>
      <p:grpSpPr>
        <a:xfrm>
          <a:off x="0" y="0"/>
          <a:ext cx="0" cy="0"/>
          <a:chOff x="0" y="0"/>
          <a:chExt cx="0" cy="0"/>
        </a:xfrm>
      </p:grpSpPr>
      <p:sp>
        <p:nvSpPr>
          <p:cNvPr id="169" name="Google Shape;169;p20"/>
          <p:cNvSpPr/>
          <p:nvPr/>
        </p:nvSpPr>
        <p:spPr>
          <a:xfrm>
            <a:off x="0" y="0"/>
            <a:ext cx="9144000" cy="914400"/>
          </a:xfrm>
          <a:prstGeom prst="rect">
            <a:avLst/>
          </a:prstGeom>
          <a:solidFill>
            <a:srgbClr val="1A2E4A"/>
          </a:solidFill>
          <a:ln cap="flat" cmpd="sng" w="12700">
            <a:solidFill>
              <a:srgbClr val="1A2E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0"/>
          <p:cNvSpPr/>
          <p:nvPr/>
        </p:nvSpPr>
        <p:spPr>
          <a:xfrm>
            <a:off x="365760" y="0"/>
            <a:ext cx="8229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Calibri"/>
              <a:buNone/>
            </a:pPr>
            <a:r>
              <a:rPr b="1" i="0" lang="en-GB" sz="3200" u="none" cap="none" strike="noStrike">
                <a:solidFill>
                  <a:srgbClr val="FFFFFF"/>
                </a:solidFill>
                <a:latin typeface="Calibri"/>
                <a:ea typeface="Calibri"/>
                <a:cs typeface="Calibri"/>
                <a:sym typeface="Calibri"/>
              </a:rPr>
              <a:t>Conclusion</a:t>
            </a:r>
            <a:endParaRPr b="0" i="0" sz="3200" u="none" cap="none" strike="noStrike">
              <a:solidFill>
                <a:schemeClr val="dk1"/>
              </a:solidFill>
              <a:latin typeface="Calibri"/>
              <a:ea typeface="Calibri"/>
              <a:cs typeface="Calibri"/>
              <a:sym typeface="Calibri"/>
            </a:endParaRPr>
          </a:p>
        </p:txBody>
      </p:sp>
      <p:sp>
        <p:nvSpPr>
          <p:cNvPr id="171" name="Google Shape;171;p20"/>
          <p:cNvSpPr/>
          <p:nvPr/>
        </p:nvSpPr>
        <p:spPr>
          <a:xfrm>
            <a:off x="365760" y="1005840"/>
            <a:ext cx="8412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400"/>
              <a:buFont typeface="Calibri"/>
              <a:buNone/>
            </a:pPr>
            <a:r>
              <a:rPr b="0" i="0" lang="en-GB" sz="1400" u="none" cap="none" strike="noStrike">
                <a:solidFill>
                  <a:srgbClr val="555555"/>
                </a:solidFill>
                <a:latin typeface="Calibri"/>
                <a:ea typeface="Calibri"/>
                <a:cs typeface="Calibri"/>
                <a:sym typeface="Calibri"/>
              </a:rPr>
              <a:t>What we achieved with this project:</a:t>
            </a:r>
            <a:endParaRPr b="0" i="0" sz="1400" u="none" cap="none" strike="noStrike">
              <a:solidFill>
                <a:schemeClr val="dk1"/>
              </a:solidFill>
              <a:latin typeface="Calibri"/>
              <a:ea typeface="Calibri"/>
              <a:cs typeface="Calibri"/>
              <a:sym typeface="Calibri"/>
            </a:endParaRPr>
          </a:p>
        </p:txBody>
      </p:sp>
      <p:sp>
        <p:nvSpPr>
          <p:cNvPr id="172" name="Google Shape;172;p20"/>
          <p:cNvSpPr/>
          <p:nvPr/>
        </p:nvSpPr>
        <p:spPr>
          <a:xfrm>
            <a:off x="320040" y="1554480"/>
            <a:ext cx="8503920" cy="530352"/>
          </a:xfrm>
          <a:prstGeom prst="rect">
            <a:avLst/>
          </a:prstGeom>
          <a:solidFill>
            <a:srgbClr val="F0F6FC"/>
          </a:solidFill>
          <a:ln cap="flat" cmpd="sng" w="1905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0"/>
          <p:cNvSpPr/>
          <p:nvPr/>
        </p:nvSpPr>
        <p:spPr>
          <a:xfrm>
            <a:off x="320040" y="1554480"/>
            <a:ext cx="109728" cy="530352"/>
          </a:xfrm>
          <a:prstGeom prst="rect">
            <a:avLst/>
          </a:prstGeom>
          <a:solidFill>
            <a:srgbClr val="27AE60"/>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0"/>
          <p:cNvSpPr/>
          <p:nvPr/>
        </p:nvSpPr>
        <p:spPr>
          <a:xfrm>
            <a:off x="502920" y="1554480"/>
            <a:ext cx="41148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400"/>
              <a:buFont typeface="Calibri"/>
              <a:buNone/>
            </a:pPr>
            <a:r>
              <a:rPr b="1" i="0" lang="en-GB" sz="1400" u="none" cap="none" strike="noStrike">
                <a:solidFill>
                  <a:srgbClr val="27AE6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75" name="Google Shape;175;p20"/>
          <p:cNvSpPr/>
          <p:nvPr/>
        </p:nvSpPr>
        <p:spPr>
          <a:xfrm>
            <a:off x="960120" y="1554480"/>
            <a:ext cx="768096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Calibri"/>
              <a:buNone/>
            </a:pPr>
            <a:r>
              <a:rPr b="0" i="0" lang="en-GB" sz="1300" u="none" cap="none" strike="noStrike">
                <a:solidFill>
                  <a:srgbClr val="222222"/>
                </a:solidFill>
                <a:latin typeface="Calibri"/>
                <a:ea typeface="Calibri"/>
                <a:cs typeface="Calibri"/>
                <a:sym typeface="Calibri"/>
              </a:rPr>
              <a:t>Fully working inventory system built in C++</a:t>
            </a:r>
            <a:endParaRPr b="0" i="0" sz="1300" u="none" cap="none" strike="noStrike">
              <a:solidFill>
                <a:schemeClr val="dk1"/>
              </a:solidFill>
              <a:latin typeface="Calibri"/>
              <a:ea typeface="Calibri"/>
              <a:cs typeface="Calibri"/>
              <a:sym typeface="Calibri"/>
            </a:endParaRPr>
          </a:p>
        </p:txBody>
      </p:sp>
      <p:sp>
        <p:nvSpPr>
          <p:cNvPr id="176" name="Google Shape;176;p20"/>
          <p:cNvSpPr/>
          <p:nvPr/>
        </p:nvSpPr>
        <p:spPr>
          <a:xfrm>
            <a:off x="320040" y="2194560"/>
            <a:ext cx="8503920" cy="530352"/>
          </a:xfrm>
          <a:prstGeom prst="rect">
            <a:avLst/>
          </a:prstGeom>
          <a:solidFill>
            <a:srgbClr val="F0F6FC"/>
          </a:solidFill>
          <a:ln cap="flat" cmpd="sng" w="19050">
            <a:solidFill>
              <a:srgbClr val="2E8B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0"/>
          <p:cNvSpPr/>
          <p:nvPr/>
        </p:nvSpPr>
        <p:spPr>
          <a:xfrm>
            <a:off x="320040" y="2194560"/>
            <a:ext cx="109728" cy="530352"/>
          </a:xfrm>
          <a:prstGeom prst="rect">
            <a:avLst/>
          </a:prstGeom>
          <a:solidFill>
            <a:srgbClr val="2E8BC0"/>
          </a:solidFill>
          <a:ln cap="flat" cmpd="sng" w="12700">
            <a:solidFill>
              <a:srgbClr val="2E8B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0"/>
          <p:cNvSpPr/>
          <p:nvPr/>
        </p:nvSpPr>
        <p:spPr>
          <a:xfrm>
            <a:off x="502920" y="2194560"/>
            <a:ext cx="41148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8BC0"/>
              </a:buClr>
              <a:buSzPts val="1400"/>
              <a:buFont typeface="Calibri"/>
              <a:buNone/>
            </a:pPr>
            <a:r>
              <a:rPr b="1" i="0" lang="en-GB" sz="1400" u="none" cap="none" strike="noStrike">
                <a:solidFill>
                  <a:srgbClr val="2E8BC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79" name="Google Shape;179;p20"/>
          <p:cNvSpPr/>
          <p:nvPr/>
        </p:nvSpPr>
        <p:spPr>
          <a:xfrm>
            <a:off x="960120" y="2194560"/>
            <a:ext cx="768096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Calibri"/>
              <a:buNone/>
            </a:pPr>
            <a:r>
              <a:rPr b="0" i="0" lang="en-GB" sz="1300" u="none" cap="none" strike="noStrike">
                <a:solidFill>
                  <a:srgbClr val="222222"/>
                </a:solidFill>
                <a:latin typeface="Calibri"/>
                <a:ea typeface="Calibri"/>
                <a:cs typeface="Calibri"/>
                <a:sym typeface="Calibri"/>
              </a:rPr>
              <a:t>Products can be added, updated, searched and removed</a:t>
            </a:r>
            <a:endParaRPr b="0" i="0" sz="1300" u="none" cap="none" strike="noStrike">
              <a:solidFill>
                <a:schemeClr val="dk1"/>
              </a:solidFill>
              <a:latin typeface="Calibri"/>
              <a:ea typeface="Calibri"/>
              <a:cs typeface="Calibri"/>
              <a:sym typeface="Calibri"/>
            </a:endParaRPr>
          </a:p>
        </p:txBody>
      </p:sp>
      <p:sp>
        <p:nvSpPr>
          <p:cNvPr id="180" name="Google Shape;180;p20"/>
          <p:cNvSpPr/>
          <p:nvPr/>
        </p:nvSpPr>
        <p:spPr>
          <a:xfrm>
            <a:off x="320040" y="2834640"/>
            <a:ext cx="8503920" cy="530352"/>
          </a:xfrm>
          <a:prstGeom prst="rect">
            <a:avLst/>
          </a:prstGeom>
          <a:solidFill>
            <a:srgbClr val="F0F6FC"/>
          </a:solidFill>
          <a:ln cap="flat" cmpd="sng" w="19050">
            <a:solidFill>
              <a:srgbClr val="E67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0"/>
          <p:cNvSpPr/>
          <p:nvPr/>
        </p:nvSpPr>
        <p:spPr>
          <a:xfrm>
            <a:off x="320040" y="2834640"/>
            <a:ext cx="109728" cy="530352"/>
          </a:xfrm>
          <a:prstGeom prst="rect">
            <a:avLst/>
          </a:prstGeom>
          <a:solidFill>
            <a:srgbClr val="E67E22"/>
          </a:solidFill>
          <a:ln cap="flat" cmpd="sng" w="12700">
            <a:solidFill>
              <a:srgbClr val="E67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0"/>
          <p:cNvSpPr/>
          <p:nvPr/>
        </p:nvSpPr>
        <p:spPr>
          <a:xfrm>
            <a:off x="502920" y="2834640"/>
            <a:ext cx="41148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7E22"/>
              </a:buClr>
              <a:buSzPts val="1400"/>
              <a:buFont typeface="Calibri"/>
              <a:buNone/>
            </a:pPr>
            <a:r>
              <a:rPr b="1" i="0" lang="en-GB" sz="1400" u="none" cap="none" strike="noStrike">
                <a:solidFill>
                  <a:srgbClr val="E67E22"/>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83" name="Google Shape;183;p20"/>
          <p:cNvSpPr/>
          <p:nvPr/>
        </p:nvSpPr>
        <p:spPr>
          <a:xfrm>
            <a:off x="960120" y="2834640"/>
            <a:ext cx="768096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Calibri"/>
              <a:buNone/>
            </a:pPr>
            <a:r>
              <a:rPr b="0" i="0" lang="en-GB" sz="1300" u="none" cap="none" strike="noStrike">
                <a:solidFill>
                  <a:srgbClr val="222222"/>
                </a:solidFill>
                <a:latin typeface="Calibri"/>
                <a:ea typeface="Calibri"/>
                <a:cs typeface="Calibri"/>
                <a:sym typeface="Calibri"/>
              </a:rPr>
              <a:t>Data is saved automatically — nothing is lost</a:t>
            </a:r>
            <a:endParaRPr b="0" i="0" sz="1300" u="none" cap="none" strike="noStrike">
              <a:solidFill>
                <a:schemeClr val="dk1"/>
              </a:solidFill>
              <a:latin typeface="Calibri"/>
              <a:ea typeface="Calibri"/>
              <a:cs typeface="Calibri"/>
              <a:sym typeface="Calibri"/>
            </a:endParaRPr>
          </a:p>
        </p:txBody>
      </p:sp>
      <p:sp>
        <p:nvSpPr>
          <p:cNvPr id="184" name="Google Shape;184;p20"/>
          <p:cNvSpPr/>
          <p:nvPr/>
        </p:nvSpPr>
        <p:spPr>
          <a:xfrm>
            <a:off x="320040" y="3474720"/>
            <a:ext cx="8503920" cy="530352"/>
          </a:xfrm>
          <a:prstGeom prst="rect">
            <a:avLst/>
          </a:prstGeom>
          <a:solidFill>
            <a:srgbClr val="F0F6FC"/>
          </a:solidFill>
          <a:ln cap="flat" cmpd="sng" w="19050">
            <a:solidFill>
              <a:srgbClr val="8E44A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0"/>
          <p:cNvSpPr/>
          <p:nvPr/>
        </p:nvSpPr>
        <p:spPr>
          <a:xfrm>
            <a:off x="320040" y="3474720"/>
            <a:ext cx="109728" cy="530352"/>
          </a:xfrm>
          <a:prstGeom prst="rect">
            <a:avLst/>
          </a:prstGeom>
          <a:solidFill>
            <a:srgbClr val="8E44AD"/>
          </a:solidFill>
          <a:ln cap="flat" cmpd="sng" w="12700">
            <a:solidFill>
              <a:srgbClr val="8E44A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0"/>
          <p:cNvSpPr/>
          <p:nvPr/>
        </p:nvSpPr>
        <p:spPr>
          <a:xfrm>
            <a:off x="502920" y="3474720"/>
            <a:ext cx="41148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E44AD"/>
              </a:buClr>
              <a:buSzPts val="1400"/>
              <a:buFont typeface="Calibri"/>
              <a:buNone/>
            </a:pPr>
            <a:r>
              <a:rPr b="1" i="0" lang="en-GB" sz="1400" u="none" cap="none" strike="noStrike">
                <a:solidFill>
                  <a:srgbClr val="8E44AD"/>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87" name="Google Shape;187;p20"/>
          <p:cNvSpPr/>
          <p:nvPr/>
        </p:nvSpPr>
        <p:spPr>
          <a:xfrm>
            <a:off x="960120" y="3474720"/>
            <a:ext cx="768096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Calibri"/>
              <a:buNone/>
            </a:pPr>
            <a:r>
              <a:rPr b="0" i="0" lang="en-GB" sz="1300" u="none" cap="none" strike="noStrike">
                <a:solidFill>
                  <a:srgbClr val="222222"/>
                </a:solidFill>
                <a:latin typeface="Calibri"/>
                <a:ea typeface="Calibri"/>
                <a:cs typeface="Calibri"/>
                <a:sym typeface="Calibri"/>
              </a:rPr>
              <a:t>Input is validated so wrong data can never be entered</a:t>
            </a:r>
            <a:endParaRPr b="0" i="0" sz="1300" u="none" cap="none" strike="noStrike">
              <a:solidFill>
                <a:schemeClr val="dk1"/>
              </a:solidFill>
              <a:latin typeface="Calibri"/>
              <a:ea typeface="Calibri"/>
              <a:cs typeface="Calibri"/>
              <a:sym typeface="Calibri"/>
            </a:endParaRPr>
          </a:p>
        </p:txBody>
      </p:sp>
      <p:sp>
        <p:nvSpPr>
          <p:cNvPr id="188" name="Google Shape;188;p20"/>
          <p:cNvSpPr/>
          <p:nvPr/>
        </p:nvSpPr>
        <p:spPr>
          <a:xfrm>
            <a:off x="320040" y="4114800"/>
            <a:ext cx="8503920" cy="530352"/>
          </a:xfrm>
          <a:prstGeom prst="rect">
            <a:avLst/>
          </a:prstGeom>
          <a:solidFill>
            <a:srgbClr val="F0F6FC"/>
          </a:solidFill>
          <a:ln cap="flat" cmpd="sng" w="19050">
            <a:solidFill>
              <a:srgbClr val="E74C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0"/>
          <p:cNvSpPr/>
          <p:nvPr/>
        </p:nvSpPr>
        <p:spPr>
          <a:xfrm>
            <a:off x="320040" y="4114800"/>
            <a:ext cx="109728" cy="530352"/>
          </a:xfrm>
          <a:prstGeom prst="rect">
            <a:avLst/>
          </a:prstGeom>
          <a:solidFill>
            <a:srgbClr val="E74C3C"/>
          </a:solidFill>
          <a:ln cap="flat" cmpd="sng" w="12700">
            <a:solidFill>
              <a:srgbClr val="E74C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0"/>
          <p:cNvSpPr/>
          <p:nvPr/>
        </p:nvSpPr>
        <p:spPr>
          <a:xfrm>
            <a:off x="502920" y="4114800"/>
            <a:ext cx="41148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74C3C"/>
              </a:buClr>
              <a:buSzPts val="1400"/>
              <a:buFont typeface="Calibri"/>
              <a:buNone/>
            </a:pPr>
            <a:r>
              <a:rPr b="1" i="0" lang="en-GB" sz="1400" u="none" cap="none" strike="noStrike">
                <a:solidFill>
                  <a:srgbClr val="E74C3C"/>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91" name="Google Shape;191;p20"/>
          <p:cNvSpPr/>
          <p:nvPr/>
        </p:nvSpPr>
        <p:spPr>
          <a:xfrm>
            <a:off x="960120" y="4114800"/>
            <a:ext cx="768096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Calibri"/>
              <a:buNone/>
            </a:pPr>
            <a:r>
              <a:rPr b="0" i="0" lang="en-GB" sz="1300" u="none" cap="none" strike="noStrike">
                <a:solidFill>
                  <a:srgbClr val="222222"/>
                </a:solidFill>
                <a:latin typeface="Calibri"/>
                <a:ea typeface="Calibri"/>
                <a:cs typeface="Calibri"/>
                <a:sym typeface="Calibri"/>
              </a:rPr>
              <a:t>Works on any computer — no setup or internet needed</a:t>
            </a:r>
            <a:endParaRPr b="0" i="0" sz="1300" u="none" cap="none" strike="noStrike">
              <a:solidFill>
                <a:schemeClr val="dk1"/>
              </a:solidFill>
              <a:latin typeface="Calibri"/>
              <a:ea typeface="Calibri"/>
              <a:cs typeface="Calibri"/>
              <a:sym typeface="Calibri"/>
            </a:endParaRPr>
          </a:p>
        </p:txBody>
      </p:sp>
      <p:sp>
        <p:nvSpPr>
          <p:cNvPr id="192" name="Google Shape;192;p20"/>
          <p:cNvSpPr/>
          <p:nvPr/>
        </p:nvSpPr>
        <p:spPr>
          <a:xfrm>
            <a:off x="0" y="4828032"/>
            <a:ext cx="9144000" cy="315468"/>
          </a:xfrm>
          <a:prstGeom prst="rect">
            <a:avLst/>
          </a:prstGeom>
          <a:solidFill>
            <a:srgbClr val="1A2E4A"/>
          </a:solidFill>
          <a:ln cap="flat" cmpd="sng" w="12700">
            <a:solidFill>
              <a:srgbClr val="1A2E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0"/>
          <p:cNvSpPr/>
          <p:nvPr/>
        </p:nvSpPr>
        <p:spPr>
          <a:xfrm>
            <a:off x="8046720" y="4828032"/>
            <a:ext cx="914400" cy="3154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0" i="0" lang="en-GB" sz="1000" u="none" cap="none" strike="noStrike">
                <a:solidFill>
                  <a:srgbClr val="FFFFFF"/>
                </a:solidFill>
                <a:latin typeface="Calibri"/>
                <a:ea typeface="Calibri"/>
                <a:cs typeface="Calibri"/>
                <a:sym typeface="Calibri"/>
              </a:rPr>
              <a:t>4 / 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81B50"/>
        </a:solidFill>
      </p:bgPr>
    </p:bg>
    <p:spTree>
      <p:nvGrpSpPr>
        <p:cNvPr id="197" name="Shape 197"/>
        <p:cNvGrpSpPr/>
        <p:nvPr/>
      </p:nvGrpSpPr>
      <p:grpSpPr>
        <a:xfrm>
          <a:off x="0" y="0"/>
          <a:ext cx="0" cy="0"/>
          <a:chOff x="0" y="0"/>
          <a:chExt cx="0" cy="0"/>
        </a:xfrm>
      </p:grpSpPr>
      <p:sp>
        <p:nvSpPr>
          <p:cNvPr id="198" name="Google Shape;198;p2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GB">
                <a:solidFill>
                  <a:schemeClr val="lt1"/>
                </a:solidFill>
              </a:rPr>
              <a:t>Thank You</a:t>
            </a:r>
            <a:endParaRPr b="1">
              <a:solidFill>
                <a:schemeClr val="lt1"/>
              </a:solidFill>
            </a:endParaRPr>
          </a:p>
        </p:txBody>
      </p:sp>
      <p:pic>
        <p:nvPicPr>
          <p:cNvPr id="199" name="Google Shape;199;p21" title="download.png"/>
          <p:cNvPicPr preferRelativeResize="0"/>
          <p:nvPr/>
        </p:nvPicPr>
        <p:blipFill>
          <a:blip r:embed="rId3">
            <a:alphaModFix/>
          </a:blip>
          <a:stretch>
            <a:fillRect/>
          </a:stretch>
        </p:blipFill>
        <p:spPr>
          <a:xfrm>
            <a:off x="2662238" y="942350"/>
            <a:ext cx="3819525" cy="12001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